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0d5cc11-9595-df0e-0acc-a314783cd9fb}">
          <p14:sldIdLst>
            <p14:sldId id="256"/>
          </p14:sldIdLst>
        </p14:section>
        <p14:section name="기획" id="{79892c8d-5f12-5f7b-bda2-cde69d400805}">
          <p14:sldIdLst>
            <p14:sldId id="257"/>
            <p14:sldId id="258"/>
            <p14:sldId id="259"/>
          </p14:sldIdLst>
        </p14:section>
        <p14:section name="기능 설계" id="{ab5f09c8-367d-63b2-0840-3dd27c9758c1}">
          <p14:sldIdLst>
            <p14:sldId id="260"/>
            <p14:sldId id="261"/>
            <p14:sldId id="262"/>
            <p14:sldId id="263"/>
            <p14:sldId id="264"/>
          </p14:sldIdLst>
        </p14:section>
        <p14:section name="구현 계획" id="{58cb7b5a-28e3-e217-4c40-5bb91287c893}">
          <p14:sldIdLst>
            <p14:sldId id="265"/>
            <p14:sldId id="266"/>
            <p14:sldId id="267"/>
            <p14:sldId id="268"/>
          </p14:sldIdLst>
        </p14:section>
        <p14:section name="일정 · 관리" id="{7cafe765-3e06-5f03-aab0-a650571af3d7}">
          <p14:sldIdLst>
            <p14:sldId id="269"/>
            <p14:sldId id="270"/>
            <p14:sldId id="271"/>
            <p14:sldId id="272"/>
          </p14:sldIdLst>
        </p14:section>
        <p14:section name="마무리" id="{3c0a04b1-5984-3121-a13a-ebfbd8127925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세 줄 먼저 · 프로젝트 계획서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세 줄 먼저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AI 공공 안내문 요약 앱 개발 계획서</a:t>
            </a:r>
            <a:endParaRPr lang="en-US" sz="2200" dirty="0"/>
          </a:p>
          <a:p>
            <a:pPr algn="l"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받은 안내문을 찍으면, 해야 할 일이 맨 위에 보이는 앱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5760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기초모바일프로그래밍 텀 프로젝트  ·  김민상 (KMS3735)  ·  2026. 10.</a:t>
            </a:r>
            <a:endParaRPr lang="en-US" sz="14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6126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github.com/KMS3735/three-lines-first</a:t>
            </a:r>
            <a:endParaRPr lang="en-US" sz="1400" dirty="0"/>
          </a:p>
        </p:txBody>
      </p:sp>
      <p:sp>
        <p:nvSpPr>
          <p:cNvPr id="6" name="card-3"/>
          <p:cNvSpPr/>
          <p:nvPr/>
        </p:nvSpPr>
        <p:spPr>
          <a:xfrm>
            <a:off x="8595360" y="1737360"/>
            <a:ext cx="292608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dot-4"/>
          <p:cNvSpPr/>
          <p:nvPr/>
        </p:nvSpPr>
        <p:spPr>
          <a:xfrm>
            <a:off x="8723376" y="18562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5"/>
          <p:cNvSpPr txBox="1"/>
          <p:nvPr/>
        </p:nvSpPr>
        <p:spPr>
          <a:xfrm>
            <a:off x="8723376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-6"/>
          <p:cNvSpPr txBox="1"/>
          <p:nvPr/>
        </p:nvSpPr>
        <p:spPr>
          <a:xfrm>
            <a:off x="9281160" y="17373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무슨 안내인지</a:t>
            </a:r>
            <a:endParaRPr lang="en-US" sz="1500" dirty="0"/>
          </a:p>
        </p:txBody>
      </p:sp>
      <p:sp>
        <p:nvSpPr>
          <p:cNvPr id="10" name="card-7"/>
          <p:cNvSpPr/>
          <p:nvPr/>
        </p:nvSpPr>
        <p:spPr>
          <a:xfrm>
            <a:off x="8595360" y="2606040"/>
            <a:ext cx="292608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dot-8"/>
          <p:cNvSpPr/>
          <p:nvPr/>
        </p:nvSpPr>
        <p:spPr>
          <a:xfrm>
            <a:off x="8723376" y="27249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9"/>
          <p:cNvSpPr txBox="1"/>
          <p:nvPr/>
        </p:nvSpPr>
        <p:spPr>
          <a:xfrm>
            <a:off x="8723376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-10"/>
          <p:cNvSpPr txBox="1"/>
          <p:nvPr/>
        </p:nvSpPr>
        <p:spPr>
          <a:xfrm>
            <a:off x="9281160" y="2606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해야 할 일</a:t>
            </a:r>
            <a:endParaRPr lang="en-US" sz="1500" dirty="0"/>
          </a:p>
        </p:txBody>
      </p:sp>
      <p:sp>
        <p:nvSpPr>
          <p:cNvPr id="14" name="card-11"/>
          <p:cNvSpPr/>
          <p:nvPr/>
        </p:nvSpPr>
        <p:spPr>
          <a:xfrm>
            <a:off x="8595360" y="3474720"/>
            <a:ext cx="292608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dot-12"/>
          <p:cNvSpPr/>
          <p:nvPr/>
        </p:nvSpPr>
        <p:spPr>
          <a:xfrm>
            <a:off x="8723376" y="35935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13"/>
          <p:cNvSpPr txBox="1"/>
          <p:nvPr/>
        </p:nvSpPr>
        <p:spPr>
          <a:xfrm>
            <a:off x="8723376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14"/>
          <p:cNvSpPr txBox="1"/>
          <p:nvPr/>
        </p:nvSpPr>
        <p:spPr>
          <a:xfrm>
            <a:off x="9281160" y="34747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언제까지 · 얼마 · 어디서</a:t>
            </a:r>
            <a:endParaRPr lang="en-US" sz="1500" dirty="0"/>
          </a:p>
        </p:txBody>
      </p:sp>
      <p:sp>
        <p:nvSpPr>
          <p:cNvPr id="18" name="card-15"/>
          <p:cNvSpPr/>
          <p:nvPr/>
        </p:nvSpPr>
        <p:spPr>
          <a:xfrm>
            <a:off x="8595360" y="4343400"/>
            <a:ext cx="2926080" cy="65836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dot-16"/>
          <p:cNvSpPr/>
          <p:nvPr/>
        </p:nvSpPr>
        <p:spPr>
          <a:xfrm>
            <a:off x="8723376" y="4462272"/>
            <a:ext cx="420624" cy="4206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-17"/>
          <p:cNvSpPr txBox="1"/>
          <p:nvPr/>
        </p:nvSpPr>
        <p:spPr>
          <a:xfrm>
            <a:off x="8723376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!</a:t>
            </a:r>
            <a:endParaRPr lang="en-US" sz="1800" dirty="0"/>
          </a:p>
        </p:txBody>
      </p:sp>
      <p:sp>
        <p:nvSpPr>
          <p:cNvPr id="21" name="text-18"/>
          <p:cNvSpPr txBox="1"/>
          <p:nvPr/>
        </p:nvSpPr>
        <p:spPr>
          <a:xfrm>
            <a:off x="9281160" y="43434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안 하면 (경고 한 줄)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프로젝트 개요</a:t>
            </a:r>
            <a:endParaRPr lang="en-US" sz="3200" dirty="0"/>
          </a:p>
        </p:txBody>
      </p:sp>
      <p:sp>
        <p:nvSpPr>
          <p:cNvPr id="3" name="text-19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종이 공공 안내문을 촬영하면 AI가 세 줄 + 경고 한 줄 + 할 일 체크박스로 바꾸고, 달력·전화·가족 공유까지 버튼 하나로 잇는다</a:t>
            </a:r>
            <a:endParaRPr lang="en-US" sz="1600" dirty="0"/>
          </a:p>
        </p:txBody>
      </p:sp>
      <p:sp>
        <p:nvSpPr>
          <p:cNvPr id="4" name="card-20"/>
          <p:cNvSpPr/>
          <p:nvPr/>
        </p:nvSpPr>
        <p:spPr>
          <a:xfrm>
            <a:off x="548640" y="1828800"/>
            <a:ext cx="56692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21"/>
          <p:cNvSpPr txBox="1"/>
          <p:nvPr/>
        </p:nvSpPr>
        <p:spPr>
          <a:xfrm>
            <a:off x="777240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앱 이름</a:t>
            </a:r>
            <a:endParaRPr lang="en-US" sz="1400" dirty="0"/>
          </a:p>
        </p:txBody>
      </p:sp>
      <p:sp>
        <p:nvSpPr>
          <p:cNvPr id="6" name="text-22"/>
          <p:cNvSpPr txBox="1"/>
          <p:nvPr/>
        </p:nvSpPr>
        <p:spPr>
          <a:xfrm>
            <a:off x="2286000" y="1828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세 줄 먼저</a:t>
            </a:r>
            <a:endParaRPr lang="en-US" sz="1400" dirty="0"/>
          </a:p>
        </p:txBody>
      </p:sp>
      <p:sp>
        <p:nvSpPr>
          <p:cNvPr id="7" name="card-23"/>
          <p:cNvSpPr/>
          <p:nvPr/>
        </p:nvSpPr>
        <p:spPr>
          <a:xfrm>
            <a:off x="548640" y="2852928"/>
            <a:ext cx="56692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24"/>
          <p:cNvSpPr txBox="1"/>
          <p:nvPr/>
        </p:nvSpPr>
        <p:spPr>
          <a:xfrm>
            <a:off x="777240" y="28529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대상 사용자</a:t>
            </a:r>
            <a:endParaRPr lang="en-US" sz="1400" dirty="0"/>
          </a:p>
        </p:txBody>
      </p:sp>
      <p:sp>
        <p:nvSpPr>
          <p:cNvPr id="9" name="text-25"/>
          <p:cNvSpPr txBox="1"/>
          <p:nvPr/>
        </p:nvSpPr>
        <p:spPr>
          <a:xfrm>
            <a:off x="2286000" y="285292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어르신, 발달장애인, 외국인 주민 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공공 안내문 이해가 어려운 사람과 가족</a:t>
            </a:r>
            <a:endParaRPr lang="en-US" sz="1400" dirty="0"/>
          </a:p>
        </p:txBody>
      </p:sp>
      <p:sp>
        <p:nvSpPr>
          <p:cNvPr id="10" name="card-26"/>
          <p:cNvSpPr/>
          <p:nvPr/>
        </p:nvSpPr>
        <p:spPr>
          <a:xfrm>
            <a:off x="548640" y="3877056"/>
            <a:ext cx="56692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27"/>
          <p:cNvSpPr txBox="1"/>
          <p:nvPr/>
        </p:nvSpPr>
        <p:spPr>
          <a:xfrm>
            <a:off x="777240" y="387705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개발 형태</a:t>
            </a:r>
            <a:endParaRPr lang="en-US" sz="1400" dirty="0"/>
          </a:p>
        </p:txBody>
      </p:sp>
      <p:sp>
        <p:nvSpPr>
          <p:cNvPr id="12" name="text-28"/>
          <p:cNvSpPr txBox="1"/>
          <p:nvPr/>
        </p:nvSpPr>
        <p:spPr>
          <a:xfrm>
            <a:off x="2286000" y="3877056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개인 텀 프로젝트, 안드로이드 네이티브 앱</a:t>
            </a:r>
            <a:endParaRPr lang="en-US" sz="1400" dirty="0"/>
          </a:p>
        </p:txBody>
      </p:sp>
      <p:sp>
        <p:nvSpPr>
          <p:cNvPr id="13" name="card-29"/>
          <p:cNvSpPr/>
          <p:nvPr/>
        </p:nvSpPr>
        <p:spPr>
          <a:xfrm>
            <a:off x="548640" y="4901184"/>
            <a:ext cx="56692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30"/>
          <p:cNvSpPr txBox="1"/>
          <p:nvPr/>
        </p:nvSpPr>
        <p:spPr>
          <a:xfrm>
            <a:off x="777240" y="490118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개발 환경</a:t>
            </a:r>
            <a:endParaRPr lang="en-US" sz="1400" dirty="0"/>
          </a:p>
        </p:txBody>
      </p:sp>
      <p:sp>
        <p:nvSpPr>
          <p:cNvPr id="15" name="text-31"/>
          <p:cNvSpPr txBox="1"/>
          <p:nvPr/>
        </p:nvSpPr>
        <p:spPr>
          <a:xfrm>
            <a:off x="2286000" y="490118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Android Studio, Java</a:t>
            </a:r>
            <a:endParaRPr lang="en-US" sz="1400" dirty="0"/>
          </a:p>
        </p:txBody>
      </p:sp>
      <p:sp>
        <p:nvSpPr>
          <p:cNvPr id="16" name="text-32"/>
          <p:cNvSpPr txBox="1"/>
          <p:nvPr/>
        </p:nvSpPr>
        <p:spPr>
          <a:xfrm>
            <a:off x="66751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사용 흐름은 세 동작으로 끝난다</a:t>
            </a:r>
            <a:endParaRPr lang="en-US" sz="1800" dirty="0"/>
          </a:p>
        </p:txBody>
      </p:sp>
      <p:sp>
        <p:nvSpPr>
          <p:cNvPr id="17" name="dot-33"/>
          <p:cNvSpPr/>
          <p:nvPr/>
        </p:nvSpPr>
        <p:spPr>
          <a:xfrm>
            <a:off x="6675120" y="2423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34"/>
          <p:cNvSpPr txBox="1"/>
          <p:nvPr/>
        </p:nvSpPr>
        <p:spPr>
          <a:xfrm>
            <a:off x="6675120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19" name="text-35"/>
          <p:cNvSpPr txBox="1"/>
          <p:nvPr/>
        </p:nvSpPr>
        <p:spPr>
          <a:xfrm>
            <a:off x="7680960" y="2441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찍는다</a:t>
            </a:r>
            <a:endParaRPr lang="en-US" sz="1800" dirty="0"/>
          </a:p>
        </p:txBody>
      </p:sp>
      <p:sp>
        <p:nvSpPr>
          <p:cNvPr id="20" name="text-36"/>
          <p:cNvSpPr txBox="1"/>
          <p:nvPr/>
        </p:nvSpPr>
        <p:spPr>
          <a:xfrm>
            <a:off x="7680960" y="28254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큰 촬영 버튼 하나, 질문 입력 없음</a:t>
            </a:r>
            <a:endParaRPr lang="en-US" sz="1400" dirty="0"/>
          </a:p>
        </p:txBody>
      </p:sp>
      <p:sp>
        <p:nvSpPr>
          <p:cNvPr id="21" name="dot-37"/>
          <p:cNvSpPr/>
          <p:nvPr/>
        </p:nvSpPr>
        <p:spPr>
          <a:xfrm>
            <a:off x="6675120" y="36118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-38"/>
          <p:cNvSpPr txBox="1"/>
          <p:nvPr/>
        </p:nvSpPr>
        <p:spPr>
          <a:xfrm>
            <a:off x="6675120" y="3611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23" name="text-39"/>
          <p:cNvSpPr txBox="1"/>
          <p:nvPr/>
        </p:nvSpPr>
        <p:spPr>
          <a:xfrm>
            <a:off x="7680960" y="3630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읽는다</a:t>
            </a:r>
            <a:endParaRPr lang="en-US" sz="1800" dirty="0"/>
          </a:p>
        </p:txBody>
      </p:sp>
      <p:sp>
        <p:nvSpPr>
          <p:cNvPr id="24" name="text-40"/>
          <p:cNvSpPr txBox="1"/>
          <p:nvPr/>
        </p:nvSpPr>
        <p:spPr>
          <a:xfrm>
            <a:off x="7680960" y="4014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항상 같은 자리의 세 줄과 경고</a:t>
            </a:r>
            <a:endParaRPr lang="en-US" sz="1400" dirty="0"/>
          </a:p>
        </p:txBody>
      </p:sp>
      <p:sp>
        <p:nvSpPr>
          <p:cNvPr id="25" name="dot-41"/>
          <p:cNvSpPr/>
          <p:nvPr/>
        </p:nvSpPr>
        <p:spPr>
          <a:xfrm>
            <a:off x="6675120" y="48006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-42"/>
          <p:cNvSpPr txBox="1"/>
          <p:nvPr/>
        </p:nvSpPr>
        <p:spPr>
          <a:xfrm>
            <a:off x="6675120" y="4800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27" name="text-43"/>
          <p:cNvSpPr txBox="1"/>
          <p:nvPr/>
        </p:nvSpPr>
        <p:spPr>
          <a:xfrm>
            <a:off x="7680960" y="4818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한다</a:t>
            </a:r>
            <a:endParaRPr lang="en-US" sz="1800" dirty="0"/>
          </a:p>
        </p:txBody>
      </p:sp>
      <p:sp>
        <p:nvSpPr>
          <p:cNvPr id="28" name="text-44"/>
          <p:cNvSpPr txBox="1"/>
          <p:nvPr/>
        </p:nvSpPr>
        <p:spPr>
          <a:xfrm>
            <a:off x="7680960" y="52029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달력 등록 · 전화 · 가족 공유 · 알림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기획 배경 및 문제 정의</a:t>
            </a:r>
            <a:endParaRPr lang="en-US" sz="3200" dirty="0"/>
          </a:p>
        </p:txBody>
      </p:sp>
      <p:sp>
        <p:nvSpPr>
          <p:cNvPr id="3" name="text-45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세금·과태료·건강검진·복지 안내문은 삶에 직접 영향을 주지만, 법 조항과 행정 용어 사이에 "무엇을, 언제까지, 어떻게"가 묻혀 있다</a:t>
            </a:r>
            <a:endParaRPr lang="en-US" sz="1600" dirty="0"/>
          </a:p>
        </p:txBody>
      </p:sp>
      <p:sp>
        <p:nvSpPr>
          <p:cNvPr id="4" name="card-46"/>
          <p:cNvSpPr/>
          <p:nvPr/>
        </p:nvSpPr>
        <p:spPr>
          <a:xfrm>
            <a:off x="548640" y="1737360"/>
            <a:ext cx="541004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-47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48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49"/>
          <p:cNvSpPr txBox="1"/>
          <p:nvPr/>
        </p:nvSpPr>
        <p:spPr>
          <a:xfrm>
            <a:off x="1417320" y="196596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사람 손에 의존하는 쉬운 언어</a:t>
            </a:r>
            <a:endParaRPr lang="en-US" sz="1700" dirty="0"/>
          </a:p>
        </p:txBody>
      </p:sp>
      <p:sp>
        <p:nvSpPr>
          <p:cNvPr id="8" name="text-50"/>
          <p:cNvSpPr txBox="1"/>
          <p:nvPr/>
        </p:nvSpPr>
        <p:spPr>
          <a:xfrm>
            <a:off x="1417320" y="2514600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정부의 쉬운 공공언어 정책은 사람이 문서를 하나씩 고쳐 쓰는 방식이라 모든 안내문으로 넓히기 어렵다</a:t>
            </a:r>
            <a:endParaRPr lang="en-US" sz="1400" dirty="0"/>
          </a:p>
        </p:txBody>
      </p:sp>
      <p:sp>
        <p:nvSpPr>
          <p:cNvPr id="9" name="card-51"/>
          <p:cNvSpPr/>
          <p:nvPr/>
        </p:nvSpPr>
        <p:spPr>
          <a:xfrm>
            <a:off x="6233008" y="1737360"/>
            <a:ext cx="541004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t-52"/>
          <p:cNvSpPr/>
          <p:nvPr/>
        </p:nvSpPr>
        <p:spPr>
          <a:xfrm>
            <a:off x="6461608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53"/>
          <p:cNvSpPr txBox="1"/>
          <p:nvPr/>
        </p:nvSpPr>
        <p:spPr>
          <a:xfrm>
            <a:off x="64616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54"/>
          <p:cNvSpPr txBox="1"/>
          <p:nvPr/>
        </p:nvSpPr>
        <p:spPr>
          <a:xfrm>
            <a:off x="7101688" y="196596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지키기 어려운 법적 의무</a:t>
            </a:r>
            <a:endParaRPr lang="en-US" sz="1700" dirty="0"/>
          </a:p>
        </p:txBody>
      </p:sp>
      <p:sp>
        <p:nvSpPr>
          <p:cNvPr id="13" name="text-55"/>
          <p:cNvSpPr txBox="1"/>
          <p:nvPr/>
        </p:nvSpPr>
        <p:spPr>
          <a:xfrm>
            <a:off x="7101688" y="2514600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발달장애인법 제10조는 정책 정보를 이해하기 쉬운 형태로 제공하도록 정하지만, 기준과 인력이 부족해 일부 자료만 만들어진다</a:t>
            </a:r>
            <a:endParaRPr lang="en-US" sz="1400" dirty="0"/>
          </a:p>
        </p:txBody>
      </p:sp>
      <p:sp>
        <p:nvSpPr>
          <p:cNvPr id="14" name="card-56"/>
          <p:cNvSpPr/>
          <p:nvPr/>
        </p:nvSpPr>
        <p:spPr>
          <a:xfrm>
            <a:off x="548640" y="3657600"/>
            <a:ext cx="541004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ot-57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58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59"/>
          <p:cNvSpPr txBox="1"/>
          <p:nvPr/>
        </p:nvSpPr>
        <p:spPr>
          <a:xfrm>
            <a:off x="1417320" y="388620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원문 대신 퍼지는 틀린 요약</a:t>
            </a:r>
            <a:endParaRPr lang="en-US" sz="1700" dirty="0"/>
          </a:p>
        </p:txBody>
      </p:sp>
      <p:sp>
        <p:nvSpPr>
          <p:cNvPr id="18" name="text-60"/>
          <p:cNvSpPr txBox="1"/>
          <p:nvPr/>
        </p:nvSpPr>
        <p:spPr>
          <a:xfrm>
            <a:off x="1417320" y="4434840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 청년 지원사업은 공식 공고의 접수 마감(5월 29일)이 본문에 묻혀, 인터넷에 "상시 신청"이라는 잘못된 요약이 돌았다</a:t>
            </a:r>
            <a:endParaRPr lang="en-US" sz="1400" dirty="0"/>
          </a:p>
        </p:txBody>
      </p:sp>
      <p:sp>
        <p:nvSpPr>
          <p:cNvPr id="19" name="card-61"/>
          <p:cNvSpPr/>
          <p:nvPr/>
        </p:nvSpPr>
        <p:spPr>
          <a:xfrm>
            <a:off x="6233008" y="3657600"/>
            <a:ext cx="5410048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ot-62"/>
          <p:cNvSpPr/>
          <p:nvPr/>
        </p:nvSpPr>
        <p:spPr>
          <a:xfrm>
            <a:off x="6461608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-63"/>
          <p:cNvSpPr txBox="1"/>
          <p:nvPr/>
        </p:nvSpPr>
        <p:spPr>
          <a:xfrm>
            <a:off x="646160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-64"/>
          <p:cNvSpPr txBox="1"/>
          <p:nvPr/>
        </p:nvSpPr>
        <p:spPr>
          <a:xfrm>
            <a:off x="7101688" y="388620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도구가 있어도 쓰기 어려운 사람</a:t>
            </a:r>
            <a:endParaRPr lang="en-US" sz="1700" dirty="0"/>
          </a:p>
        </p:txBody>
      </p:sp>
      <p:sp>
        <p:nvSpPr>
          <p:cNvPr id="23" name="text-65"/>
          <p:cNvSpPr txBox="1"/>
          <p:nvPr/>
        </p:nvSpPr>
        <p:spPr>
          <a:xfrm>
            <a:off x="7101688" y="4434840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사진을 찍어 AI에게 묻는 방법은 이미 있지만, 질문을 입력하고 긴 답변을 읽어야 해 또 하나의 장벽이 된다</a:t>
            </a:r>
            <a:endParaRPr lang="en-US" sz="1400" dirty="0"/>
          </a:p>
        </p:txBody>
      </p:sp>
      <p:sp>
        <p:nvSpPr>
          <p:cNvPr id="24" name="card-66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-67"/>
          <p:cNvSpPr txBox="1"/>
          <p:nvPr/>
        </p:nvSpPr>
        <p:spPr>
          <a:xfrm>
            <a:off x="822960" y="562356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그 결과 사람들은 원문 대신 남이 만든 요약에 의존하다가 기한을 놓치거나, 받을 수 있는 혜택을 놓친다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차별성: 이미 있는 도구와 무엇이 다른가</a:t>
            </a:r>
            <a:endParaRPr lang="en-US" sz="3200" dirty="0"/>
          </a:p>
        </p:txBody>
      </p:sp>
      <p:sp>
        <p:nvSpPr>
          <p:cNvPr id="3" name="text-68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질문을 입력하지 않아도 되고, 답의 형식이 매번 같으며, 읽은 뒤 해야 할 행동까지 버튼으로 이어 준다</a:t>
            </a:r>
            <a:endParaRPr lang="en-US" sz="1600" dirty="0"/>
          </a:p>
        </p:txBody>
      </p:sp>
      <p:graphicFrame>
        <p:nvGraphicFramePr>
          <p:cNvPr id="5" name="table-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7649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항목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도구 (사진 검색, AI 챗봇)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줄 먼저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방법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실행, 촬영, 질문 직접 입력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촬영 버튼 하나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형식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길이와 구성이 다른 긴 답변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 같은 세 줄 + 경고 한 줄 + 할 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정확성 확인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스스로 판단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날짜·금액 자동 대조, 원문 나란히 보기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전체가 외부로 전송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안에서 가린 텍스트만 전송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읽은 다음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직접 기억하고 처리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달력 등록, 전화 걸기, 가족 공유, 마감일 알림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글씨 크기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글씨, 고대비, 음성 읽어주기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text-70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해외에는 BriefAI(미국), Lees Simpel(네덜란드) 등 유사 앱이 있으나, AI 요약을 규칙 코드로 대조하는 정확성 장치는 찾기 어렵다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세 줄 형식: "해야 할 일" 중심으로 고정</a:t>
            </a:r>
            <a:endParaRPr lang="en-US" sz="3200" dirty="0"/>
          </a:p>
        </p:txBody>
      </p:sp>
      <p:sp>
        <p:nvSpPr>
          <p:cNvPr id="3" name="text-71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요약은 자유 서술이 아니라 항상 같은 순서와 역할을 갖는다</a:t>
            </a:r>
            <a:endParaRPr lang="en-US" sz="1600" dirty="0"/>
          </a:p>
        </p:txBody>
      </p:sp>
      <p:sp>
        <p:nvSpPr>
          <p:cNvPr id="4" name="text-72"/>
          <p:cNvSpPr txBox="1"/>
          <p:nvPr/>
        </p:nvSpPr>
        <p:spPr>
          <a:xfrm>
            <a:off x="548640" y="1691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예시: 아파트 관리비 고지서</a:t>
            </a:r>
            <a:endParaRPr lang="en-US" sz="1500" dirty="0"/>
          </a:p>
        </p:txBody>
      </p:sp>
      <p:sp>
        <p:nvSpPr>
          <p:cNvPr id="5" name="card-73"/>
          <p:cNvSpPr/>
          <p:nvPr/>
        </p:nvSpPr>
        <p:spPr>
          <a:xfrm>
            <a:off x="548640" y="2148840"/>
            <a:ext cx="67665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ot-74"/>
          <p:cNvSpPr/>
          <p:nvPr/>
        </p:nvSpPr>
        <p:spPr>
          <a:xfrm>
            <a:off x="731520" y="23042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75"/>
          <p:cNvSpPr txBox="1"/>
          <p:nvPr/>
        </p:nvSpPr>
        <p:spPr>
          <a:xfrm>
            <a:off x="73152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-76"/>
          <p:cNvSpPr txBox="1"/>
          <p:nvPr/>
        </p:nvSpPr>
        <p:spPr>
          <a:xfrm>
            <a:off x="1371600" y="22219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무슨 안내인지</a:t>
            </a:r>
            <a:endParaRPr lang="en-US" sz="1200" dirty="0"/>
          </a:p>
        </p:txBody>
      </p:sp>
      <p:sp>
        <p:nvSpPr>
          <p:cNvPr id="9" name="text-77"/>
          <p:cNvSpPr txBox="1"/>
          <p:nvPr/>
        </p:nvSpPr>
        <p:spPr>
          <a:xfrm>
            <a:off x="1371600" y="24963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아파트 관리비 고지서예요.</a:t>
            </a:r>
            <a:endParaRPr lang="en-US" sz="1600" dirty="0"/>
          </a:p>
        </p:txBody>
      </p:sp>
      <p:sp>
        <p:nvSpPr>
          <p:cNvPr id="10" name="card-78"/>
          <p:cNvSpPr/>
          <p:nvPr/>
        </p:nvSpPr>
        <p:spPr>
          <a:xfrm>
            <a:off x="548640" y="3063240"/>
            <a:ext cx="67665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ot-79"/>
          <p:cNvSpPr/>
          <p:nvPr/>
        </p:nvSpPr>
        <p:spPr>
          <a:xfrm>
            <a:off x="731520" y="32186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80"/>
          <p:cNvSpPr txBox="1"/>
          <p:nvPr/>
        </p:nvSpPr>
        <p:spPr>
          <a:xfrm>
            <a:off x="73152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-81"/>
          <p:cNvSpPr txBox="1"/>
          <p:nvPr/>
        </p:nvSpPr>
        <p:spPr>
          <a:xfrm>
            <a:off x="1371600" y="31363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해야 할 일</a:t>
            </a:r>
            <a:endParaRPr lang="en-US" sz="1200" dirty="0"/>
          </a:p>
        </p:txBody>
      </p:sp>
      <p:sp>
        <p:nvSpPr>
          <p:cNvPr id="14" name="text-82"/>
          <p:cNvSpPr txBox="1"/>
          <p:nvPr/>
        </p:nvSpPr>
        <p:spPr>
          <a:xfrm>
            <a:off x="1371600" y="34107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이번 달 관리비를 내셔야 해요.</a:t>
            </a:r>
            <a:endParaRPr lang="en-US" sz="1600" dirty="0"/>
          </a:p>
        </p:txBody>
      </p:sp>
      <p:sp>
        <p:nvSpPr>
          <p:cNvPr id="15" name="card-83"/>
          <p:cNvSpPr/>
          <p:nvPr/>
        </p:nvSpPr>
        <p:spPr>
          <a:xfrm>
            <a:off x="548640" y="3977640"/>
            <a:ext cx="67665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ot-84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-85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-86"/>
          <p:cNvSpPr txBox="1"/>
          <p:nvPr/>
        </p:nvSpPr>
        <p:spPr>
          <a:xfrm>
            <a:off x="1371600" y="40507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언제까지 · 얼마 · 어디서</a:t>
            </a:r>
            <a:endParaRPr lang="en-US" sz="1200" dirty="0"/>
          </a:p>
        </p:txBody>
      </p:sp>
      <p:sp>
        <p:nvSpPr>
          <p:cNvPr id="19" name="text-87"/>
          <p:cNvSpPr txBox="1"/>
          <p:nvPr/>
        </p:nvSpPr>
        <p:spPr>
          <a:xfrm>
            <a:off x="1371600" y="43251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10월 31일까지 152,000원을 은행이나 인터넷뱅킹으로 내요.</a:t>
            </a:r>
            <a:endParaRPr lang="en-US" sz="1600" dirty="0"/>
          </a:p>
        </p:txBody>
      </p:sp>
      <p:sp>
        <p:nvSpPr>
          <p:cNvPr id="20" name="card-88"/>
          <p:cNvSpPr/>
          <p:nvPr/>
        </p:nvSpPr>
        <p:spPr>
          <a:xfrm>
            <a:off x="548640" y="4892040"/>
            <a:ext cx="676656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dot-89"/>
          <p:cNvSpPr/>
          <p:nvPr/>
        </p:nvSpPr>
        <p:spPr>
          <a:xfrm>
            <a:off x="731520" y="5001768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-90"/>
          <p:cNvSpPr txBox="1"/>
          <p:nvPr/>
        </p:nvSpPr>
        <p:spPr>
          <a:xfrm>
            <a:off x="73152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!</a:t>
            </a:r>
            <a:endParaRPr lang="en-US" sz="1800" dirty="0"/>
          </a:p>
        </p:txBody>
      </p:sp>
      <p:sp>
        <p:nvSpPr>
          <p:cNvPr id="23" name="text-91"/>
          <p:cNvSpPr txBox="1"/>
          <p:nvPr/>
        </p:nvSpPr>
        <p:spPr>
          <a:xfrm>
            <a:off x="1371600" y="48920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기한이 지나면 연체료가 붙을 수 있어요.</a:t>
            </a:r>
            <a:endParaRPr lang="en-US" sz="1600" dirty="0"/>
          </a:p>
        </p:txBody>
      </p:sp>
      <p:sp>
        <p:nvSpPr>
          <p:cNvPr id="24" name="text-92"/>
          <p:cNvSpPr txBox="1"/>
          <p:nvPr/>
        </p:nvSpPr>
        <p:spPr>
          <a:xfrm>
            <a:off x="731520" y="5715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☐  관리비 납부하기</a:t>
            </a:r>
            <a:endParaRPr lang="en-US" sz="1600" dirty="0"/>
          </a:p>
        </p:txBody>
      </p:sp>
      <p:sp>
        <p:nvSpPr>
          <p:cNvPr id="25" name="text-93"/>
          <p:cNvSpPr txBox="1"/>
          <p:nvPr/>
        </p:nvSpPr>
        <p:spPr>
          <a:xfrm>
            <a:off x="7772400" y="169164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형식을 고정하는 이유</a:t>
            </a:r>
            <a:endParaRPr lang="en-US" sz="1800" dirty="0"/>
          </a:p>
        </p:txBody>
      </p:sp>
      <p:sp>
        <p:nvSpPr>
          <p:cNvPr id="26" name="card-94"/>
          <p:cNvSpPr/>
          <p:nvPr/>
        </p:nvSpPr>
        <p:spPr>
          <a:xfrm>
            <a:off x="7772400" y="2240280"/>
            <a:ext cx="3870655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7" name="text-95"/>
          <p:cNvSpPr txBox="1"/>
          <p:nvPr/>
        </p:nvSpPr>
        <p:spPr>
          <a:xfrm>
            <a:off x="8001000" y="237744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사용자</a:t>
            </a:r>
            <a:endParaRPr lang="en-US" sz="1500" dirty="0"/>
          </a:p>
        </p:txBody>
      </p:sp>
      <p:sp>
        <p:nvSpPr>
          <p:cNvPr id="28" name="text-96"/>
          <p:cNvSpPr txBox="1"/>
          <p:nvPr/>
        </p:nvSpPr>
        <p:spPr>
          <a:xfrm>
            <a:off x="8001000" y="2697480"/>
            <a:ext cx="3413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매번 같은 자리에서 같은 정보를 찾는다</a:t>
            </a:r>
            <a:endParaRPr lang="en-US" sz="1300" dirty="0"/>
          </a:p>
        </p:txBody>
      </p:sp>
      <p:sp>
        <p:nvSpPr>
          <p:cNvPr id="29" name="card-97"/>
          <p:cNvSpPr/>
          <p:nvPr/>
        </p:nvSpPr>
        <p:spPr>
          <a:xfrm>
            <a:off x="7772400" y="3429000"/>
            <a:ext cx="3870655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0" name="text-98"/>
          <p:cNvSpPr txBox="1"/>
          <p:nvPr/>
        </p:nvSpPr>
        <p:spPr>
          <a:xfrm>
            <a:off x="8001000" y="356616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검증 코드</a:t>
            </a:r>
            <a:endParaRPr lang="en-US" sz="1500" dirty="0"/>
          </a:p>
        </p:txBody>
      </p:sp>
      <p:sp>
        <p:nvSpPr>
          <p:cNvPr id="31" name="text-99"/>
          <p:cNvSpPr txBox="1"/>
          <p:nvPr/>
        </p:nvSpPr>
        <p:spPr>
          <a:xfrm>
            <a:off x="8001000" y="3886200"/>
            <a:ext cx="3413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줄마다 따로 검사할 수 있다. 3줄의 날짜·금액은 원문과 대조한다</a:t>
            </a:r>
            <a:endParaRPr lang="en-US" sz="1300" dirty="0"/>
          </a:p>
        </p:txBody>
      </p:sp>
      <p:sp>
        <p:nvSpPr>
          <p:cNvPr id="32" name="card-100"/>
          <p:cNvSpPr/>
          <p:nvPr/>
        </p:nvSpPr>
        <p:spPr>
          <a:xfrm>
            <a:off x="7772400" y="4617720"/>
            <a:ext cx="3870655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3" name="text-101"/>
          <p:cNvSpPr txBox="1"/>
          <p:nvPr/>
        </p:nvSpPr>
        <p:spPr>
          <a:xfrm>
            <a:off x="8001000" y="475488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행동 연결</a:t>
            </a:r>
            <a:endParaRPr lang="en-US" sz="1500" dirty="0"/>
          </a:p>
        </p:txBody>
      </p:sp>
      <p:sp>
        <p:nvSpPr>
          <p:cNvPr id="34" name="text-102"/>
          <p:cNvSpPr txBox="1"/>
          <p:nvPr/>
        </p:nvSpPr>
        <p:spPr>
          <a:xfrm>
            <a:off x="8001000" y="5074920"/>
            <a:ext cx="3413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마감일을 따로 받아 달력·알림에 그대로 쓴다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핵심 화면 구성</a:t>
            </a:r>
            <a:endParaRPr lang="en-US" sz="3200" dirty="0"/>
          </a:p>
        </p:txBody>
      </p:sp>
      <p:sp>
        <p:nvSpPr>
          <p:cNvPr id="3" name="text-103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사진 한 장에서 세 줄 요약, 할 일, 행동까지 네 화면으로 이어진다</a:t>
            </a:r>
            <a:endParaRPr lang="en-US" sz="1600" dirty="0"/>
          </a:p>
        </p:txBody>
      </p:sp>
      <p:pic>
        <p:nvPicPr>
          <p:cNvPr id="4" name="mockup" descr="안내문 목록, 촬영 안내, 세 줄 요약, 행동 연결 네 화면 목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1554480"/>
            <a:ext cx="8229600" cy="49353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주요 기능</a:t>
            </a:r>
            <a:endParaRPr lang="en-US" sz="3200" dirty="0"/>
          </a:p>
        </p:txBody>
      </p:sp>
      <p:sp>
        <p:nvSpPr>
          <p:cNvPr id="3" name="text-104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촬영 한 번으로 요약, 할 일, 행동(달력·전화·공유), 마감일 알림까지 이어지는 것이 핵심이다</a:t>
            </a:r>
            <a:endParaRPr lang="en-US" sz="1600" dirty="0"/>
          </a:p>
        </p:txBody>
      </p:sp>
      <p:sp>
        <p:nvSpPr>
          <p:cNvPr id="4" name="card-105"/>
          <p:cNvSpPr/>
          <p:nvPr/>
        </p:nvSpPr>
        <p:spPr>
          <a:xfrm>
            <a:off x="548640" y="1737360"/>
            <a:ext cx="2036003" cy="34290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-106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107"/>
          <p:cNvSpPr txBox="1"/>
          <p:nvPr/>
        </p:nvSpPr>
        <p:spPr>
          <a:xfrm>
            <a:off x="7315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-108"/>
          <p:cNvSpPr txBox="1"/>
          <p:nvPr/>
        </p:nvSpPr>
        <p:spPr>
          <a:xfrm>
            <a:off x="1298448" y="1938528"/>
            <a:ext cx="1213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시작</a:t>
            </a:r>
            <a:endParaRPr lang="en-US" sz="1800" dirty="0"/>
          </a:p>
        </p:txBody>
      </p:sp>
      <p:sp>
        <p:nvSpPr>
          <p:cNvPr id="8" name="text-109"/>
          <p:cNvSpPr txBox="1"/>
          <p:nvPr/>
        </p:nvSpPr>
        <p:spPr>
          <a:xfrm>
            <a:off x="685800" y="2606040"/>
            <a:ext cx="176168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개인정보 동의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전송 범위를 그림으로 안내</a:t>
            </a:r>
            <a:endParaRPr lang="en-US" sz="1400" dirty="0"/>
          </a:p>
        </p:txBody>
      </p:sp>
      <p:sp>
        <p:nvSpPr>
          <p:cNvPr id="9" name="card-110"/>
          <p:cNvSpPr/>
          <p:nvPr/>
        </p:nvSpPr>
        <p:spPr>
          <a:xfrm>
            <a:off x="2813243" y="1737360"/>
            <a:ext cx="2036003" cy="34290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t-111"/>
          <p:cNvSpPr/>
          <p:nvPr/>
        </p:nvSpPr>
        <p:spPr>
          <a:xfrm>
            <a:off x="2996123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112"/>
          <p:cNvSpPr txBox="1"/>
          <p:nvPr/>
        </p:nvSpPr>
        <p:spPr>
          <a:xfrm>
            <a:off x="2996123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-113"/>
          <p:cNvSpPr txBox="1"/>
          <p:nvPr/>
        </p:nvSpPr>
        <p:spPr>
          <a:xfrm>
            <a:off x="3563051" y="1938528"/>
            <a:ext cx="1213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촬영</a:t>
            </a:r>
            <a:endParaRPr lang="en-US" sz="1800" dirty="0"/>
          </a:p>
        </p:txBody>
      </p:sp>
      <p:sp>
        <p:nvSpPr>
          <p:cNvPr id="13" name="text-114"/>
          <p:cNvSpPr txBox="1"/>
          <p:nvPr/>
        </p:nvSpPr>
        <p:spPr>
          <a:xfrm>
            <a:off x="2950403" y="2606040"/>
            <a:ext cx="176168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촬영 안내와 가이드 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ML Kit 한국어 글자 인식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개인정보 자동 가림</a:t>
            </a:r>
            <a:endParaRPr lang="en-US" sz="1400" dirty="0"/>
          </a:p>
        </p:txBody>
      </p:sp>
      <p:sp>
        <p:nvSpPr>
          <p:cNvPr id="14" name="card-115"/>
          <p:cNvSpPr/>
          <p:nvPr/>
        </p:nvSpPr>
        <p:spPr>
          <a:xfrm>
            <a:off x="5077846" y="1737360"/>
            <a:ext cx="2036003" cy="34290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ot-116"/>
          <p:cNvSpPr/>
          <p:nvPr/>
        </p:nvSpPr>
        <p:spPr>
          <a:xfrm>
            <a:off x="5260726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117"/>
          <p:cNvSpPr txBox="1"/>
          <p:nvPr/>
        </p:nvSpPr>
        <p:spPr>
          <a:xfrm>
            <a:off x="5260726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-118"/>
          <p:cNvSpPr txBox="1"/>
          <p:nvPr/>
        </p:nvSpPr>
        <p:spPr>
          <a:xfrm>
            <a:off x="5827654" y="1938528"/>
            <a:ext cx="1213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요약</a:t>
            </a:r>
            <a:endParaRPr lang="en-US" sz="1800" dirty="0"/>
          </a:p>
        </p:txBody>
      </p:sp>
      <p:sp>
        <p:nvSpPr>
          <p:cNvPr id="18" name="text-119"/>
          <p:cNvSpPr txBox="1"/>
          <p:nvPr/>
        </p:nvSpPr>
        <p:spPr>
          <a:xfrm>
            <a:off x="5215006" y="2606040"/>
            <a:ext cx="176168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세 줄 + 경고 카드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할 일 체크박스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원문 나란히 보기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"이해가 안 돼요" 재요약</a:t>
            </a:r>
            <a:endParaRPr lang="en-US" sz="1400" dirty="0"/>
          </a:p>
        </p:txBody>
      </p:sp>
      <p:sp>
        <p:nvSpPr>
          <p:cNvPr id="19" name="card-120"/>
          <p:cNvSpPr/>
          <p:nvPr/>
        </p:nvSpPr>
        <p:spPr>
          <a:xfrm>
            <a:off x="7342449" y="1737360"/>
            <a:ext cx="2036003" cy="3429000"/>
          </a:xfrm>
          <a:prstGeom prst="roundRect">
            <a:avLst>
              <a:gd name="adj" fmla="val 538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dot-121"/>
          <p:cNvSpPr/>
          <p:nvPr/>
        </p:nvSpPr>
        <p:spPr>
          <a:xfrm>
            <a:off x="7525329" y="19385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-122"/>
          <p:cNvSpPr txBox="1"/>
          <p:nvPr/>
        </p:nvSpPr>
        <p:spPr>
          <a:xfrm>
            <a:off x="7525329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-123"/>
          <p:cNvSpPr txBox="1"/>
          <p:nvPr/>
        </p:nvSpPr>
        <p:spPr>
          <a:xfrm>
            <a:off x="8092257" y="1938528"/>
            <a:ext cx="1213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행동</a:t>
            </a:r>
            <a:endParaRPr lang="en-US" sz="1800" dirty="0"/>
          </a:p>
        </p:txBody>
      </p:sp>
      <p:sp>
        <p:nvSpPr>
          <p:cNvPr id="23" name="text-124"/>
          <p:cNvSpPr txBox="1"/>
          <p:nvPr/>
        </p:nvSpPr>
        <p:spPr>
          <a:xfrm>
            <a:off x="7479609" y="2606040"/>
            <a:ext cx="176168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소리로 읽어주기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달력에 등록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바로 전화 걸기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가족에게 보내기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마감일 3일 전·당일 알림</a:t>
            </a:r>
            <a:endParaRPr lang="en-US" sz="1400" dirty="0"/>
          </a:p>
        </p:txBody>
      </p:sp>
      <p:sp>
        <p:nvSpPr>
          <p:cNvPr id="24" name="card-125"/>
          <p:cNvSpPr/>
          <p:nvPr/>
        </p:nvSpPr>
        <p:spPr>
          <a:xfrm>
            <a:off x="9607052" y="1737360"/>
            <a:ext cx="2036003" cy="3429000"/>
          </a:xfrm>
          <a:prstGeom prst="roundRect">
            <a:avLst>
              <a:gd name="adj" fmla="val 53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dot-126"/>
          <p:cNvSpPr/>
          <p:nvPr/>
        </p:nvSpPr>
        <p:spPr>
          <a:xfrm>
            <a:off x="9789932" y="1938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-127"/>
          <p:cNvSpPr txBox="1"/>
          <p:nvPr/>
        </p:nvSpPr>
        <p:spPr>
          <a:xfrm>
            <a:off x="978993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-128"/>
          <p:cNvSpPr txBox="1"/>
          <p:nvPr/>
        </p:nvSpPr>
        <p:spPr>
          <a:xfrm>
            <a:off x="10356860" y="1938528"/>
            <a:ext cx="1213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설정</a:t>
            </a:r>
            <a:endParaRPr lang="en-US" sz="1800" dirty="0"/>
          </a:p>
        </p:txBody>
      </p:sp>
      <p:sp>
        <p:nvSpPr>
          <p:cNvPr id="28" name="text-129"/>
          <p:cNvSpPr txBox="1"/>
          <p:nvPr/>
        </p:nvSpPr>
        <p:spPr>
          <a:xfrm>
            <a:off x="9744212" y="2606040"/>
            <a:ext cx="176168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내 모드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(쉬운 말, 큰 글씨)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원문 사진 보관 선택</a:t>
            </a:r>
            <a:endParaRPr lang="en-US" sz="1400" dirty="0"/>
          </a:p>
        </p:txBody>
      </p:sp>
      <p:sp>
        <p:nvSpPr>
          <p:cNvPr id="29" name="card-130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-131"/>
          <p:cNvSpPr txBox="1"/>
          <p:nvPr/>
        </p:nvSpPr>
        <p:spPr>
          <a:xfrm>
            <a:off x="822960" y="53949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필수 범위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시작 · 촬영 · 요약 (정확성 장치 포함)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추가 범위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행동 · 설정, Firebase 가족 공유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요약 정확성 보장 장치</a:t>
            </a:r>
            <a:endParaRPr lang="en-US" sz="3200" dirty="0"/>
          </a:p>
        </p:txBody>
      </p:sp>
      <p:sp>
        <p:nvSpPr>
          <p:cNvPr id="3" name="text-132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사람이 검수할 수 없는 개인 앱의 한계를 규칙 코드, 원문 나란히 보기, 가족 확인으로 보완한다</a:t>
            </a:r>
            <a:endParaRPr lang="en-US" sz="1600" dirty="0"/>
          </a:p>
        </p:txBody>
      </p:sp>
      <p:pic>
        <p:nvPicPr>
          <p:cNvPr id="4" name="pipeline" descr="촬영부터 경고 배지까지 요약 처리 흐름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309360" cy="3718016"/>
          </a:xfrm>
          <a:prstGeom prst="rect">
            <a:avLst/>
          </a:prstGeom>
        </p:spPr>
      </p:pic>
      <p:sp>
        <p:nvSpPr>
          <p:cNvPr id="5" name="dot-133"/>
          <p:cNvSpPr/>
          <p:nvPr/>
        </p:nvSpPr>
        <p:spPr>
          <a:xfrm>
            <a:off x="7178040" y="1737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134"/>
          <p:cNvSpPr txBox="1"/>
          <p:nvPr/>
        </p:nvSpPr>
        <p:spPr>
          <a:xfrm>
            <a:off x="71780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135"/>
          <p:cNvSpPr txBox="1"/>
          <p:nvPr/>
        </p:nvSpPr>
        <p:spPr>
          <a:xfrm>
            <a:off x="7726680" y="169164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개인정보 가림 (기기 내)</a:t>
            </a:r>
            <a:endParaRPr lang="en-US" sz="1400" dirty="0"/>
          </a:p>
        </p:txBody>
      </p:sp>
      <p:sp>
        <p:nvSpPr>
          <p:cNvPr id="8" name="text-136"/>
          <p:cNvSpPr txBox="1"/>
          <p:nvPr/>
        </p:nvSpPr>
        <p:spPr>
          <a:xfrm>
            <a:off x="7726680" y="201168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가린 텍스트만 AI로 전송, 사진은 외부 전송 없음</a:t>
            </a:r>
            <a:endParaRPr lang="en-US" sz="1200" dirty="0"/>
          </a:p>
        </p:txBody>
      </p:sp>
      <p:sp>
        <p:nvSpPr>
          <p:cNvPr id="9" name="dot-137"/>
          <p:cNvSpPr/>
          <p:nvPr/>
        </p:nvSpPr>
        <p:spPr>
          <a:xfrm>
            <a:off x="7178040" y="249631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38"/>
          <p:cNvSpPr txBox="1"/>
          <p:nvPr/>
        </p:nvSpPr>
        <p:spPr>
          <a:xfrm>
            <a:off x="717804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139"/>
          <p:cNvSpPr txBox="1"/>
          <p:nvPr/>
        </p:nvSpPr>
        <p:spPr>
          <a:xfrm>
            <a:off x="7726680" y="2450592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형식 검사</a:t>
            </a:r>
            <a:endParaRPr lang="en-US" sz="1400" dirty="0"/>
          </a:p>
        </p:txBody>
      </p:sp>
      <p:sp>
        <p:nvSpPr>
          <p:cNvPr id="12" name="text-140"/>
          <p:cNvSpPr txBox="1"/>
          <p:nvPr/>
        </p:nvSpPr>
        <p:spPr>
          <a:xfrm>
            <a:off x="7726680" y="2770632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정해진 JSON이 아니거나 필수 줄이 비면 1회 재요청</a:t>
            </a:r>
            <a:endParaRPr lang="en-US" sz="1200" dirty="0"/>
          </a:p>
        </p:txBody>
      </p:sp>
      <p:sp>
        <p:nvSpPr>
          <p:cNvPr id="13" name="dot-141"/>
          <p:cNvSpPr/>
          <p:nvPr/>
        </p:nvSpPr>
        <p:spPr>
          <a:xfrm>
            <a:off x="7178040" y="325526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142"/>
          <p:cNvSpPr txBox="1"/>
          <p:nvPr/>
        </p:nvSpPr>
        <p:spPr>
          <a:xfrm>
            <a:off x="717804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-143"/>
          <p:cNvSpPr txBox="1"/>
          <p:nvPr/>
        </p:nvSpPr>
        <p:spPr>
          <a:xfrm>
            <a:off x="7726680" y="3209544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날짜·금액 자동 대조</a:t>
            </a:r>
            <a:endParaRPr lang="en-US" sz="1400" dirty="0"/>
          </a:p>
        </p:txBody>
      </p:sp>
      <p:sp>
        <p:nvSpPr>
          <p:cNvPr id="16" name="text-144"/>
          <p:cNvSpPr txBox="1"/>
          <p:nvPr/>
        </p:nvSpPr>
        <p:spPr>
          <a:xfrm>
            <a:off x="7726680" y="3529584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원문에 없는 값이면 재요약, 그래도 다르면 경고 배지</a:t>
            </a:r>
            <a:endParaRPr lang="en-US" sz="1200" dirty="0"/>
          </a:p>
        </p:txBody>
      </p:sp>
      <p:sp>
        <p:nvSpPr>
          <p:cNvPr id="17" name="dot-145"/>
          <p:cNvSpPr/>
          <p:nvPr/>
        </p:nvSpPr>
        <p:spPr>
          <a:xfrm>
            <a:off x="7178040" y="401421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146"/>
          <p:cNvSpPr txBox="1"/>
          <p:nvPr/>
        </p:nvSpPr>
        <p:spPr>
          <a:xfrm>
            <a:off x="717804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-147"/>
          <p:cNvSpPr txBox="1"/>
          <p:nvPr/>
        </p:nvSpPr>
        <p:spPr>
          <a:xfrm>
            <a:off x="7726680" y="3968496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확신이 없을 때는 사용자에게</a:t>
            </a:r>
            <a:endParaRPr lang="en-US" sz="1400" dirty="0"/>
          </a:p>
        </p:txBody>
      </p:sp>
      <p:sp>
        <p:nvSpPr>
          <p:cNvPr id="20" name="text-148"/>
          <p:cNvSpPr txBox="1"/>
          <p:nvPr/>
        </p:nvSpPr>
        <p:spPr>
          <a:xfrm>
            <a:off x="7726680" y="4288536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마감일 후보를 보여 주고 직접 선택</a:t>
            </a:r>
            <a:endParaRPr lang="en-US" sz="1200" dirty="0"/>
          </a:p>
        </p:txBody>
      </p:sp>
      <p:sp>
        <p:nvSpPr>
          <p:cNvPr id="21" name="dot-149"/>
          <p:cNvSpPr/>
          <p:nvPr/>
        </p:nvSpPr>
        <p:spPr>
          <a:xfrm>
            <a:off x="7178040" y="47731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-150"/>
          <p:cNvSpPr txBox="1"/>
          <p:nvPr/>
        </p:nvSpPr>
        <p:spPr>
          <a:xfrm>
            <a:off x="7178040" y="4773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-151"/>
          <p:cNvSpPr txBox="1"/>
          <p:nvPr/>
        </p:nvSpPr>
        <p:spPr>
          <a:xfrm>
            <a:off x="7726680" y="4727448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원문 나란히 보기</a:t>
            </a:r>
            <a:endParaRPr lang="en-US" sz="1400" dirty="0"/>
          </a:p>
        </p:txBody>
      </p:sp>
      <p:sp>
        <p:nvSpPr>
          <p:cNvPr id="24" name="text-152"/>
          <p:cNvSpPr txBox="1"/>
          <p:nvPr/>
        </p:nvSpPr>
        <p:spPr>
          <a:xfrm>
            <a:off x="7726680" y="504748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"효력은 원문을 따릅니다" 고정 표기, 전화로 확인</a:t>
            </a:r>
            <a:endParaRPr lang="en-US" sz="1200" dirty="0"/>
          </a:p>
        </p:txBody>
      </p:sp>
      <p:sp>
        <p:nvSpPr>
          <p:cNvPr id="25" name="dot-153"/>
          <p:cNvSpPr/>
          <p:nvPr/>
        </p:nvSpPr>
        <p:spPr>
          <a:xfrm>
            <a:off x="7178040" y="553212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-154"/>
          <p:cNvSpPr txBox="1"/>
          <p:nvPr/>
        </p:nvSpPr>
        <p:spPr>
          <a:xfrm>
            <a:off x="717804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-155"/>
          <p:cNvSpPr txBox="1"/>
          <p:nvPr/>
        </p:nvSpPr>
        <p:spPr>
          <a:xfrm>
            <a:off x="7726680" y="548640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가상 독자 검수 (향후)</a:t>
            </a:r>
            <a:endParaRPr lang="en-US" sz="1400" dirty="0"/>
          </a:p>
        </p:txBody>
      </p:sp>
      <p:sp>
        <p:nvSpPr>
          <p:cNvPr id="28" name="text-156"/>
          <p:cNvSpPr txBox="1"/>
          <p:nvPr/>
        </p:nvSpPr>
        <p:spPr>
          <a:xfrm>
            <a:off x="7726680" y="580644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요약만 읽은 두 번째 AI의 답을 원문과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출력 형식과 날짜·금액 대조 규칙</a:t>
            </a:r>
            <a:endParaRPr lang="en-US" sz="3200" dirty="0"/>
          </a:p>
        </p:txBody>
      </p:sp>
      <p:sp>
        <p:nvSpPr>
          <p:cNvPr id="3" name="text-157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AI 응답을 JSON으로 고정하고, 마감일과 금액을 따로 받아 자동 대조·달력·알림에 그대로 쓴다</a:t>
            </a:r>
            <a:endParaRPr lang="en-US" sz="1600" dirty="0"/>
          </a:p>
        </p:txBody>
      </p:sp>
      <p:sp>
        <p:nvSpPr>
          <p:cNvPr id="4" name="card-158"/>
          <p:cNvSpPr/>
          <p:nvPr/>
        </p:nvSpPr>
        <p:spPr>
          <a:xfrm>
            <a:off x="548640" y="1737360"/>
            <a:ext cx="594360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159"/>
          <p:cNvSpPr txBox="1"/>
          <p:nvPr/>
        </p:nvSpPr>
        <p:spPr>
          <a:xfrm>
            <a:off x="822960" y="192024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"line1_what": "아파트 관리비 고지서예요.",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"line2_todo": "이번 달 관리비를 내셔야 해요.",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"line3_when_where": "10월 31일까지 152,000원을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은행이나 인터넷뱅킹으로 내요.",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"warning": "기한이 지나면 연체료가 붙을 수 있어요.",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"todos": ["관리비 납부하기"],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"deadline": "2026-10-31",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"amounts": [152000]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-160"/>
          <p:cNvSpPr txBox="1"/>
          <p:nvPr/>
        </p:nvSpPr>
        <p:spPr>
          <a:xfrm>
            <a:off x="6858000" y="173736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같은 형식으로 바꾼 뒤 비교</a:t>
            </a:r>
            <a:endParaRPr lang="en-US" sz="1800" dirty="0"/>
          </a:p>
        </p:txBody>
      </p:sp>
      <p:graphicFrame>
        <p:nvGraphicFramePr>
          <p:cNvPr id="10" name="table-1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240280"/>
          <a:ext cx="478505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10. 31. / 10월 31일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2026-10-31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152,000원 / 15만 2천원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4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152000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8" name="text-162"/>
          <p:cNvSpPr txBox="1"/>
          <p:nvPr/>
        </p:nvSpPr>
        <p:spPr>
          <a:xfrm>
            <a:off x="6858000" y="3977640"/>
            <a:ext cx="47850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요약의 날짜·금액이 모두 원문에 있으면 통과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없으면 1회 재요약, 그래도 다르면 "요약의 마감일(5월 30일)이 원문(5월 29일)과 달라요" 경고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날짜가 여러 개면 "까지", "마감", "기한" 주변 날짜를 우선 선택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API 키는 local.properties에 두고 Git에 올리지 않음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기술 스택</a:t>
            </a:r>
            <a:endParaRPr lang="en-US" sz="3200" dirty="0"/>
          </a:p>
        </p:txBody>
      </p:sp>
      <p:sp>
        <p:nvSpPr>
          <p:cNvPr id="3" name="text-163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모든 개발과 빌드는 Android Studio에서 Java로 진행한다</a:t>
            </a:r>
            <a:endParaRPr lang="en-US" sz="1600" dirty="0"/>
          </a:p>
        </p:txBody>
      </p:sp>
      <p:sp>
        <p:nvSpPr>
          <p:cNvPr id="4" name="card-164"/>
          <p:cNvSpPr/>
          <p:nvPr/>
        </p:nvSpPr>
        <p:spPr>
          <a:xfrm>
            <a:off x="548640" y="1691640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65"/>
          <p:cNvSpPr txBox="1"/>
          <p:nvPr/>
        </p:nvSpPr>
        <p:spPr>
          <a:xfrm>
            <a:off x="77724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개발 환경</a:t>
            </a:r>
            <a:endParaRPr lang="en-US" sz="1400" dirty="0"/>
          </a:p>
        </p:txBody>
      </p:sp>
      <p:sp>
        <p:nvSpPr>
          <p:cNvPr id="6" name="text-166"/>
          <p:cNvSpPr txBox="1"/>
          <p:nvPr/>
        </p:nvSpPr>
        <p:spPr>
          <a:xfrm>
            <a:off x="2560320" y="1691640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Android Studio, Java, Git</a:t>
            </a:r>
            <a:endParaRPr lang="en-US" sz="1400" dirty="0"/>
          </a:p>
        </p:txBody>
      </p:sp>
      <p:sp>
        <p:nvSpPr>
          <p:cNvPr id="7" name="card-167"/>
          <p:cNvSpPr/>
          <p:nvPr/>
        </p:nvSpPr>
        <p:spPr>
          <a:xfrm>
            <a:off x="6233008" y="1691640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168"/>
          <p:cNvSpPr txBox="1"/>
          <p:nvPr/>
        </p:nvSpPr>
        <p:spPr>
          <a:xfrm>
            <a:off x="6461608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화면</a:t>
            </a:r>
            <a:endParaRPr lang="en-US" sz="1400" dirty="0"/>
          </a:p>
        </p:txBody>
      </p:sp>
      <p:sp>
        <p:nvSpPr>
          <p:cNvPr id="9" name="text-169"/>
          <p:cNvSpPr txBox="1"/>
          <p:nvPr/>
        </p:nvSpPr>
        <p:spPr>
          <a:xfrm>
            <a:off x="8244688" y="1691640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XML 레이아웃, RecyclerView, CardView</a:t>
            </a:r>
            <a:endParaRPr lang="en-US" sz="1400" dirty="0"/>
          </a:p>
        </p:txBody>
      </p:sp>
      <p:sp>
        <p:nvSpPr>
          <p:cNvPr id="10" name="card-170"/>
          <p:cNvSpPr/>
          <p:nvPr/>
        </p:nvSpPr>
        <p:spPr>
          <a:xfrm>
            <a:off x="548640" y="2441448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71"/>
          <p:cNvSpPr txBox="1"/>
          <p:nvPr/>
        </p:nvSpPr>
        <p:spPr>
          <a:xfrm>
            <a:off x="777240" y="2441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촬영 · 글자 인식</a:t>
            </a:r>
            <a:endParaRPr lang="en-US" sz="1400" dirty="0"/>
          </a:p>
        </p:txBody>
      </p:sp>
      <p:sp>
        <p:nvSpPr>
          <p:cNvPr id="12" name="text-172"/>
          <p:cNvSpPr txBox="1"/>
          <p:nvPr/>
        </p:nvSpPr>
        <p:spPr>
          <a:xfrm>
            <a:off x="2560320" y="2441448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CameraX, ML Kit 한국어 (기기 내 처리)</a:t>
            </a:r>
            <a:endParaRPr lang="en-US" sz="1400" dirty="0"/>
          </a:p>
        </p:txBody>
      </p:sp>
      <p:sp>
        <p:nvSpPr>
          <p:cNvPr id="13" name="card-173"/>
          <p:cNvSpPr/>
          <p:nvPr/>
        </p:nvSpPr>
        <p:spPr>
          <a:xfrm>
            <a:off x="6233008" y="2441448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74"/>
          <p:cNvSpPr txBox="1"/>
          <p:nvPr/>
        </p:nvSpPr>
        <p:spPr>
          <a:xfrm>
            <a:off x="6461608" y="2441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</a:t>
            </a:r>
            <a:endParaRPr lang="en-US" sz="1400" dirty="0"/>
          </a:p>
        </p:txBody>
      </p:sp>
      <p:sp>
        <p:nvSpPr>
          <p:cNvPr id="15" name="text-175"/>
          <p:cNvSpPr txBox="1"/>
          <p:nvPr/>
        </p:nvSpPr>
        <p:spPr>
          <a:xfrm>
            <a:off x="8244688" y="2441448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Gemini API (요약, 쉬운 말 재요약)</a:t>
            </a:r>
            <a:endParaRPr lang="en-US" sz="1400" dirty="0"/>
          </a:p>
        </p:txBody>
      </p:sp>
      <p:sp>
        <p:nvSpPr>
          <p:cNvPr id="16" name="card-176"/>
          <p:cNvSpPr/>
          <p:nvPr/>
        </p:nvSpPr>
        <p:spPr>
          <a:xfrm>
            <a:off x="548640" y="3191256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177"/>
          <p:cNvSpPr txBox="1"/>
          <p:nvPr/>
        </p:nvSpPr>
        <p:spPr>
          <a:xfrm>
            <a:off x="777240" y="319125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통신</a:t>
            </a:r>
            <a:endParaRPr lang="en-US" sz="1400" dirty="0"/>
          </a:p>
        </p:txBody>
      </p:sp>
      <p:sp>
        <p:nvSpPr>
          <p:cNvPr id="18" name="text-178"/>
          <p:cNvSpPr txBox="1"/>
          <p:nvPr/>
        </p:nvSpPr>
        <p:spPr>
          <a:xfrm>
            <a:off x="2560320" y="3191256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Retrofit, JSON 파싱</a:t>
            </a:r>
            <a:endParaRPr lang="en-US" sz="1400" dirty="0"/>
          </a:p>
        </p:txBody>
      </p:sp>
      <p:sp>
        <p:nvSpPr>
          <p:cNvPr id="19" name="card-179"/>
          <p:cNvSpPr/>
          <p:nvPr/>
        </p:nvSpPr>
        <p:spPr>
          <a:xfrm>
            <a:off x="6233008" y="3191256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180"/>
          <p:cNvSpPr txBox="1"/>
          <p:nvPr/>
        </p:nvSpPr>
        <p:spPr>
          <a:xfrm>
            <a:off x="6461608" y="319125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검증</a:t>
            </a:r>
            <a:endParaRPr lang="en-US" sz="1400" dirty="0"/>
          </a:p>
        </p:txBody>
      </p:sp>
      <p:sp>
        <p:nvSpPr>
          <p:cNvPr id="21" name="text-181"/>
          <p:cNvSpPr txBox="1"/>
          <p:nvPr/>
        </p:nvSpPr>
        <p:spPr>
          <a:xfrm>
            <a:off x="8244688" y="3191256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정규식 날짜·금액·개인정보 추출</a:t>
            </a:r>
            <a:endParaRPr lang="en-US" sz="1400" dirty="0"/>
          </a:p>
        </p:txBody>
      </p:sp>
      <p:sp>
        <p:nvSpPr>
          <p:cNvPr id="22" name="card-182"/>
          <p:cNvSpPr/>
          <p:nvPr/>
        </p:nvSpPr>
        <p:spPr>
          <a:xfrm>
            <a:off x="548640" y="3941064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183"/>
          <p:cNvSpPr txBox="1"/>
          <p:nvPr/>
        </p:nvSpPr>
        <p:spPr>
          <a:xfrm>
            <a:off x="777240" y="394106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저장</a:t>
            </a:r>
            <a:endParaRPr lang="en-US" sz="1400" dirty="0"/>
          </a:p>
        </p:txBody>
      </p:sp>
      <p:sp>
        <p:nvSpPr>
          <p:cNvPr id="24" name="text-184"/>
          <p:cNvSpPr txBox="1"/>
          <p:nvPr/>
        </p:nvSpPr>
        <p:spPr>
          <a:xfrm>
            <a:off x="2560320" y="3941064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Room, SharedPreferences, 내부 저장소</a:t>
            </a:r>
            <a:endParaRPr lang="en-US" sz="1400" dirty="0"/>
          </a:p>
        </p:txBody>
      </p:sp>
      <p:sp>
        <p:nvSpPr>
          <p:cNvPr id="25" name="card-185"/>
          <p:cNvSpPr/>
          <p:nvPr/>
        </p:nvSpPr>
        <p:spPr>
          <a:xfrm>
            <a:off x="6233008" y="3941064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186"/>
          <p:cNvSpPr txBox="1"/>
          <p:nvPr/>
        </p:nvSpPr>
        <p:spPr>
          <a:xfrm>
            <a:off x="6461608" y="394106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백그라운드</a:t>
            </a:r>
            <a:endParaRPr lang="en-US" sz="1400" dirty="0"/>
          </a:p>
        </p:txBody>
      </p:sp>
      <p:sp>
        <p:nvSpPr>
          <p:cNvPr id="27" name="text-187"/>
          <p:cNvSpPr txBox="1"/>
          <p:nvPr/>
        </p:nvSpPr>
        <p:spPr>
          <a:xfrm>
            <a:off x="8244688" y="3941064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Thread, Handler</a:t>
            </a:r>
            <a:endParaRPr lang="en-US" sz="1400" dirty="0"/>
          </a:p>
        </p:txBody>
      </p:sp>
      <p:sp>
        <p:nvSpPr>
          <p:cNvPr id="28" name="card-188"/>
          <p:cNvSpPr/>
          <p:nvPr/>
        </p:nvSpPr>
        <p:spPr>
          <a:xfrm>
            <a:off x="548640" y="4690872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189"/>
          <p:cNvSpPr txBox="1"/>
          <p:nvPr/>
        </p:nvSpPr>
        <p:spPr>
          <a:xfrm>
            <a:off x="777240" y="46908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행동 연결</a:t>
            </a:r>
            <a:endParaRPr lang="en-US" sz="1400" dirty="0"/>
          </a:p>
        </p:txBody>
      </p:sp>
      <p:sp>
        <p:nvSpPr>
          <p:cNvPr id="30" name="text-190"/>
          <p:cNvSpPr txBox="1"/>
          <p:nvPr/>
        </p:nvSpPr>
        <p:spPr>
          <a:xfrm>
            <a:off x="2560320" y="4690872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암시적 인텐트 (달력, 전화, 공유)</a:t>
            </a:r>
            <a:endParaRPr lang="en-US" sz="1400" dirty="0"/>
          </a:p>
        </p:txBody>
      </p:sp>
      <p:sp>
        <p:nvSpPr>
          <p:cNvPr id="31" name="card-191"/>
          <p:cNvSpPr/>
          <p:nvPr/>
        </p:nvSpPr>
        <p:spPr>
          <a:xfrm>
            <a:off x="6233008" y="4690872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-192"/>
          <p:cNvSpPr txBox="1"/>
          <p:nvPr/>
        </p:nvSpPr>
        <p:spPr>
          <a:xfrm>
            <a:off x="6461608" y="46908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알림 · 음성</a:t>
            </a:r>
            <a:endParaRPr lang="en-US" sz="1400" dirty="0"/>
          </a:p>
        </p:txBody>
      </p:sp>
      <p:sp>
        <p:nvSpPr>
          <p:cNvPr id="33" name="text-193"/>
          <p:cNvSpPr txBox="1"/>
          <p:nvPr/>
        </p:nvSpPr>
        <p:spPr>
          <a:xfrm>
            <a:off x="8244688" y="4690872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AlarmManager, Notification, TextToSpeech</a:t>
            </a:r>
            <a:endParaRPr lang="en-US" sz="1400" dirty="0"/>
          </a:p>
        </p:txBody>
      </p:sp>
      <p:sp>
        <p:nvSpPr>
          <p:cNvPr id="34" name="card-194"/>
          <p:cNvSpPr/>
          <p:nvPr/>
        </p:nvSpPr>
        <p:spPr>
          <a:xfrm>
            <a:off x="548640" y="5440680"/>
            <a:ext cx="5410048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-195"/>
          <p:cNvSpPr txBox="1"/>
          <p:nvPr/>
        </p:nvSpPr>
        <p:spPr>
          <a:xfrm>
            <a:off x="777240" y="5440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서버</a:t>
            </a:r>
            <a:endParaRPr lang="en-US" sz="1400" dirty="0"/>
          </a:p>
        </p:txBody>
      </p:sp>
      <p:sp>
        <p:nvSpPr>
          <p:cNvPr id="36" name="text-196"/>
          <p:cNvSpPr txBox="1"/>
          <p:nvPr/>
        </p:nvSpPr>
        <p:spPr>
          <a:xfrm>
            <a:off x="2560320" y="5440680"/>
            <a:ext cx="321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Firebase Authentication, Realtime Database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Android Studio 프로젝트 설계</a:t>
            </a:r>
            <a:endParaRPr lang="en-US" sz="3200" dirty="0"/>
          </a:p>
        </p:txBody>
      </p:sp>
      <p:sp>
        <p:nvSpPr>
          <p:cNvPr id="3" name="text-197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Empty Views Activity 템플릿으로 시작해 수업에서 다룬 XML 레이아웃과 Activity 구조를 그대로 쓴다</a:t>
            </a:r>
            <a:endParaRPr lang="en-US" sz="1600" dirty="0"/>
          </a:p>
        </p:txBody>
      </p:sp>
      <p:graphicFrame>
        <p:nvGraphicFramePr>
          <p:cNvPr id="12" name="table-1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Empty Views Activity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Language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Java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Package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com.kms3735.threelinesfirst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Minimum SDK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26 (Android 8.0)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Build 설정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Kotlin DSL (build.gradle.kts)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CAMERA, INTERNET, POST_NOTIFICATIONS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-199"/>
          <p:cNvSpPr/>
          <p:nvPr/>
        </p:nvSpPr>
        <p:spPr>
          <a:xfrm>
            <a:off x="6035040" y="1737360"/>
            <a:ext cx="5608015" cy="3794760"/>
          </a:xfrm>
          <a:prstGeom prst="roundRect">
            <a:avLst>
              <a:gd name="adj" fmla="val 28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-200"/>
          <p:cNvSpPr txBox="1"/>
          <p:nvPr/>
        </p:nvSpPr>
        <p:spPr>
          <a:xfrm>
            <a:off x="6309360" y="1874520"/>
            <a:ext cx="515081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threelinesfirst/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ui/       Main · Consent · Capture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Result · Settings Activity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ocr/      OcrHelper (ML Kit)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privacy/  PrivacyMasker (정규식)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ai/       GeminiApi · SummaryClient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verify/   Verifier (날짜·금액 대조)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     Room: AppDatabase · Notice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Todo · NoticeDao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util/     ActionIntents · DeadlineAlarm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TtsHelper</a:t>
            </a:r>
            <a:endParaRPr lang="en-US" sz="1300" dirty="0"/>
          </a:p>
        </p:txBody>
      </p:sp>
      <p:sp>
        <p:nvSpPr>
          <p:cNvPr id="7" name="text-201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PrivacyMasker와 Verifier는 순수 Java 클래스로 만들어 JUnit 단위 테스트로 검증한다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수업 내용 적용</a:t>
            </a:r>
            <a:endParaRPr lang="en-US" sz="3200" dirty="0"/>
          </a:p>
        </p:txBody>
      </p:sp>
      <p:sp>
        <p:nvSpPr>
          <p:cNvPr id="3" name="text-202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강의 내용을 기능마다 대응시키고, 실습용 방식은 실제 앱에 맞게 바꾼다</a:t>
            </a:r>
            <a:endParaRPr lang="en-US" sz="1600" dirty="0"/>
          </a:p>
        </p:txBody>
      </p:sp>
      <p:graphicFrame>
        <p:nvGraphicFramePr>
          <p:cNvPr id="13" name="table-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572000"/>
                <a:gridCol w="52422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앱에서 쓰는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Week01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Studio 프로젝트 생성, 에뮬레이터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설정, 실기기·에뮬레이터 테스트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Week02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위젯 (TextView, Button, CheckBox)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줄 카드, 할 일 체크박스, 행동 버튼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Week03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레이아웃 (ConstraintLayout, LinearLayout)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화면 배치, 큰 글씨 모드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Week03-1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구성 요소, Activity 생명주기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Activity 6개, 알림용 BroadcastReceiver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Week05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저장소, SharedPreferences, Room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사진, 내 모드 설정, 안내문·할 일 저장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Week06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Thread, Handler, Looper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작업은 백그라운드, 화면 갱신은 Handler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Multimedia · Services · Networking · Firebase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CameraX 촬영, 마감일 알림, Retrofit, 가족 공유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-204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05"/>
          <p:cNvSpPr txBox="1"/>
          <p:nvPr/>
        </p:nvSpPr>
        <p:spPr>
          <a:xfrm>
            <a:off x="822960" y="55321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실습과 다르게 구현: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allowMainThreadQueries() 대신 Thread + Handler,  Room은 Java라 annotationProcessor만 사용,  카메라 인텐트 대신 가이드 틀을 그리기 위한 CameraX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개발 범위</a:t>
            </a:r>
            <a:endParaRPr lang="en-US" sz="3200" dirty="0"/>
          </a:p>
        </p:txBody>
      </p:sp>
      <p:sp>
        <p:nvSpPr>
          <p:cNvPr id="3" name="text-206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정확성 장치가 들어간 핵심 흐름(촬영 → 요약 → 대조)을 먼저 완성하고, 편의 기능을 그 위에 더한다</a:t>
            </a:r>
            <a:endParaRPr lang="en-US" sz="1600" dirty="0"/>
          </a:p>
        </p:txBody>
      </p:sp>
      <p:sp>
        <p:nvSpPr>
          <p:cNvPr id="4" name="card-207"/>
          <p:cNvSpPr/>
          <p:nvPr/>
        </p:nvSpPr>
        <p:spPr>
          <a:xfrm>
            <a:off x="548640" y="173736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208"/>
          <p:cNvSpPr/>
          <p:nvPr/>
        </p:nvSpPr>
        <p:spPr>
          <a:xfrm>
            <a:off x="777240" y="1965960"/>
            <a:ext cx="118872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209"/>
          <p:cNvSpPr txBox="1"/>
          <p:nvPr/>
        </p:nvSpPr>
        <p:spPr>
          <a:xfrm>
            <a:off x="77724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필수</a:t>
            </a:r>
            <a:endParaRPr lang="en-US" sz="1600" dirty="0"/>
          </a:p>
        </p:txBody>
      </p:sp>
      <p:sp>
        <p:nvSpPr>
          <p:cNvPr id="7" name="text-210"/>
          <p:cNvSpPr txBox="1"/>
          <p:nvPr/>
        </p:nvSpPr>
        <p:spPr>
          <a:xfrm>
            <a:off x="777240" y="2651760"/>
            <a:ext cx="305805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촬영 안내와 글자 인식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개인정보 동의와 자동 가림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세 줄 요약과 체크박스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날짜·금액 자동 대조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원문 나란히 보기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안내문 목록 (Room)</a:t>
            </a:r>
            <a:endParaRPr lang="en-US" sz="1500" dirty="0"/>
          </a:p>
        </p:txBody>
      </p:sp>
      <p:sp>
        <p:nvSpPr>
          <p:cNvPr id="8" name="card-211"/>
          <p:cNvSpPr/>
          <p:nvPr/>
        </p:nvSpPr>
        <p:spPr>
          <a:xfrm>
            <a:off x="4338218" y="173736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212"/>
          <p:cNvSpPr/>
          <p:nvPr/>
        </p:nvSpPr>
        <p:spPr>
          <a:xfrm>
            <a:off x="4566818" y="1965960"/>
            <a:ext cx="118872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-213"/>
          <p:cNvSpPr txBox="1"/>
          <p:nvPr/>
        </p:nvSpPr>
        <p:spPr>
          <a:xfrm>
            <a:off x="4566818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추가</a:t>
            </a:r>
            <a:endParaRPr lang="en-US" sz="1600" dirty="0"/>
          </a:p>
        </p:txBody>
      </p:sp>
      <p:sp>
        <p:nvSpPr>
          <p:cNvPr id="11" name="text-214"/>
          <p:cNvSpPr txBox="1"/>
          <p:nvPr/>
        </p:nvSpPr>
        <p:spPr>
          <a:xfrm>
            <a:off x="4566818" y="2651760"/>
            <a:ext cx="305805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소리로 읽어주기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달력 등록 · 전화 · 가족에게 보내기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마감일 알림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쉬운 말 · 큰 글씨 모드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"이해가 안 돼요" 재요약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Firebase 가족 공유</a:t>
            </a:r>
            <a:endParaRPr lang="en-US" sz="1500" dirty="0"/>
          </a:p>
        </p:txBody>
      </p:sp>
      <p:sp>
        <p:nvSpPr>
          <p:cNvPr id="12" name="card-215"/>
          <p:cNvSpPr/>
          <p:nvPr/>
        </p:nvSpPr>
        <p:spPr>
          <a:xfrm>
            <a:off x="8127797" y="173736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216"/>
          <p:cNvSpPr/>
          <p:nvPr/>
        </p:nvSpPr>
        <p:spPr>
          <a:xfrm>
            <a:off x="8356397" y="1965960"/>
            <a:ext cx="1188720" cy="45720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-217"/>
          <p:cNvSpPr txBox="1"/>
          <p:nvPr/>
        </p:nvSpPr>
        <p:spPr>
          <a:xfrm>
            <a:off x="8356397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향후</a:t>
            </a:r>
            <a:endParaRPr lang="en-US" sz="1600" dirty="0"/>
          </a:p>
        </p:txBody>
      </p:sp>
      <p:sp>
        <p:nvSpPr>
          <p:cNvPr id="15" name="text-218"/>
          <p:cNvSpPr txBox="1"/>
          <p:nvPr/>
        </p:nvSpPr>
        <p:spPr>
          <a:xfrm>
            <a:off x="8356397" y="2651760"/>
            <a:ext cx="305805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가상 독자 검수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문서 한정 질문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외국어 모드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기관 검수 요약 JSON 연동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일정 및 마일스톤</a:t>
            </a:r>
            <a:endParaRPr lang="en-US" sz="3200" dirty="0"/>
          </a:p>
        </p:txBody>
      </p:sp>
      <p:sp>
        <p:nvSpPr>
          <p:cNvPr id="3" name="text-219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수업의 텀 프로젝트 일정을 GitHub 마일스톤으로 등록하고, 미팅마다 시연 가능한 버전을 만든다</a:t>
            </a:r>
            <a:endParaRPr lang="en-US" sz="1600" dirty="0"/>
          </a:p>
        </p:txBody>
      </p:sp>
      <p:sp>
        <p:nvSpPr>
          <p:cNvPr id="4" name="timeline"/>
          <p:cNvSpPr/>
          <p:nvPr/>
        </p:nvSpPr>
        <p:spPr>
          <a:xfrm>
            <a:off x="1832572" y="2148840"/>
            <a:ext cx="8526551" cy="0"/>
          </a:xfrm>
          <a:prstGeom prst="line">
            <a:avLst/>
          </a:prstGeom>
          <a:noFill/>
          <a:ln w="38100">
            <a:solidFill>
              <a:srgbClr val="D9E6E4"/>
            </a:solidFill>
            <a:prstDash val="solid"/>
          </a:ln>
        </p:spPr>
      </p:sp>
      <p:sp>
        <p:nvSpPr>
          <p:cNvPr id="5" name="dot-220"/>
          <p:cNvSpPr/>
          <p:nvPr/>
        </p:nvSpPr>
        <p:spPr>
          <a:xfrm>
            <a:off x="1558252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221"/>
          <p:cNvSpPr txBox="1"/>
          <p:nvPr/>
        </p:nvSpPr>
        <p:spPr>
          <a:xfrm>
            <a:off x="155825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222"/>
          <p:cNvSpPr txBox="1"/>
          <p:nvPr/>
        </p:nvSpPr>
        <p:spPr>
          <a:xfrm>
            <a:off x="548640" y="2606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10월 11일</a:t>
            </a:r>
            <a:endParaRPr lang="en-US" sz="1800" dirty="0"/>
          </a:p>
        </p:txBody>
      </p:sp>
      <p:sp>
        <p:nvSpPr>
          <p:cNvPr id="8" name="text-223"/>
          <p:cNvSpPr txBox="1"/>
          <p:nvPr/>
        </p:nvSpPr>
        <p:spPr>
          <a:xfrm>
            <a:off x="548640" y="297180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계획서 제출</a:t>
            </a:r>
            <a:endParaRPr lang="en-US" sz="1400" dirty="0"/>
          </a:p>
        </p:txBody>
      </p:sp>
      <p:sp>
        <p:nvSpPr>
          <p:cNvPr id="9" name="card-224"/>
          <p:cNvSpPr/>
          <p:nvPr/>
        </p:nvSpPr>
        <p:spPr>
          <a:xfrm>
            <a:off x="548640" y="3474720"/>
            <a:ext cx="2567864" cy="269748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225"/>
          <p:cNvSpPr txBox="1"/>
          <p:nvPr/>
        </p:nvSpPr>
        <p:spPr>
          <a:xfrm>
            <a:off x="731520" y="3611880"/>
            <a:ext cx="22021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기획·화면 설계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개발 계획 수립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1:1 미팅으로 계획 확인</a:t>
            </a:r>
            <a:endParaRPr lang="en-US" sz="1400" dirty="0"/>
          </a:p>
        </p:txBody>
      </p:sp>
      <p:sp>
        <p:nvSpPr>
          <p:cNvPr id="11" name="dot-226"/>
          <p:cNvSpPr/>
          <p:nvPr/>
        </p:nvSpPr>
        <p:spPr>
          <a:xfrm>
            <a:off x="4400436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227"/>
          <p:cNvSpPr txBox="1"/>
          <p:nvPr/>
        </p:nvSpPr>
        <p:spPr>
          <a:xfrm>
            <a:off x="440043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-228"/>
          <p:cNvSpPr txBox="1"/>
          <p:nvPr/>
        </p:nvSpPr>
        <p:spPr>
          <a:xfrm>
            <a:off x="3390824" y="2606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13주차</a:t>
            </a:r>
            <a:endParaRPr lang="en-US" sz="1800" dirty="0"/>
          </a:p>
        </p:txBody>
      </p:sp>
      <p:sp>
        <p:nvSpPr>
          <p:cNvPr id="14" name="text-229"/>
          <p:cNvSpPr txBox="1"/>
          <p:nvPr/>
        </p:nvSpPr>
        <p:spPr>
          <a:xfrm>
            <a:off x="3390824" y="297180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Progress meeting #1</a:t>
            </a:r>
            <a:endParaRPr lang="en-US" sz="1400" dirty="0"/>
          </a:p>
        </p:txBody>
      </p:sp>
      <p:sp>
        <p:nvSpPr>
          <p:cNvPr id="15" name="card-230"/>
          <p:cNvSpPr/>
          <p:nvPr/>
        </p:nvSpPr>
        <p:spPr>
          <a:xfrm>
            <a:off x="3390824" y="3474720"/>
            <a:ext cx="2567864" cy="269748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231"/>
          <p:cNvSpPr txBox="1"/>
          <p:nvPr/>
        </p:nvSpPr>
        <p:spPr>
          <a:xfrm>
            <a:off x="3573704" y="361188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Release v0.1</a:t>
            </a:r>
            <a:endParaRPr lang="en-US" sz="1300" dirty="0"/>
          </a:p>
        </p:txBody>
      </p:sp>
      <p:sp>
        <p:nvSpPr>
          <p:cNvPr id="17" name="text-232"/>
          <p:cNvSpPr txBox="1"/>
          <p:nvPr/>
        </p:nvSpPr>
        <p:spPr>
          <a:xfrm>
            <a:off x="3573704" y="3977640"/>
            <a:ext cx="22021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프로젝트 준비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촬영 · 글자 인식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개인정보 가림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세 줄 요약 화면</a:t>
            </a:r>
            <a:endParaRPr lang="en-US" sz="1400" dirty="0"/>
          </a:p>
        </p:txBody>
      </p:sp>
      <p:sp>
        <p:nvSpPr>
          <p:cNvPr id="18" name="dot-233"/>
          <p:cNvSpPr/>
          <p:nvPr/>
        </p:nvSpPr>
        <p:spPr>
          <a:xfrm>
            <a:off x="724262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234"/>
          <p:cNvSpPr txBox="1"/>
          <p:nvPr/>
        </p:nvSpPr>
        <p:spPr>
          <a:xfrm>
            <a:off x="72426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-235"/>
          <p:cNvSpPr txBox="1"/>
          <p:nvPr/>
        </p:nvSpPr>
        <p:spPr>
          <a:xfrm>
            <a:off x="6233008" y="2606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14주차</a:t>
            </a:r>
            <a:endParaRPr lang="en-US" sz="1800" dirty="0"/>
          </a:p>
        </p:txBody>
      </p:sp>
      <p:sp>
        <p:nvSpPr>
          <p:cNvPr id="21" name="text-236"/>
          <p:cNvSpPr txBox="1"/>
          <p:nvPr/>
        </p:nvSpPr>
        <p:spPr>
          <a:xfrm>
            <a:off x="6233008" y="297180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Progress meeting #2</a:t>
            </a:r>
            <a:endParaRPr lang="en-US" sz="1400" dirty="0"/>
          </a:p>
        </p:txBody>
      </p:sp>
      <p:sp>
        <p:nvSpPr>
          <p:cNvPr id="22" name="card-237"/>
          <p:cNvSpPr/>
          <p:nvPr/>
        </p:nvSpPr>
        <p:spPr>
          <a:xfrm>
            <a:off x="6233008" y="3474720"/>
            <a:ext cx="2567864" cy="269748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238"/>
          <p:cNvSpPr txBox="1"/>
          <p:nvPr/>
        </p:nvSpPr>
        <p:spPr>
          <a:xfrm>
            <a:off x="6415888" y="361188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Release v0.2</a:t>
            </a:r>
            <a:endParaRPr lang="en-US" sz="1300" dirty="0"/>
          </a:p>
        </p:txBody>
      </p:sp>
      <p:sp>
        <p:nvSpPr>
          <p:cNvPr id="24" name="text-239"/>
          <p:cNvSpPr txBox="1"/>
          <p:nvPr/>
        </p:nvSpPr>
        <p:spPr>
          <a:xfrm>
            <a:off x="6415888" y="3977640"/>
            <a:ext cx="22021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날짜·금액 대조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Room 저장과 목록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행동 연결 · 알림</a:t>
            </a:r>
            <a:endParaRPr lang="en-US" sz="1400" dirty="0"/>
          </a:p>
        </p:txBody>
      </p:sp>
      <p:sp>
        <p:nvSpPr>
          <p:cNvPr id="25" name="dot-240"/>
          <p:cNvSpPr/>
          <p:nvPr/>
        </p:nvSpPr>
        <p:spPr>
          <a:xfrm>
            <a:off x="10084803" y="1874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-241"/>
          <p:cNvSpPr txBox="1"/>
          <p:nvPr/>
        </p:nvSpPr>
        <p:spPr>
          <a:xfrm>
            <a:off x="10084803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-242"/>
          <p:cNvSpPr txBox="1"/>
          <p:nvPr/>
        </p:nvSpPr>
        <p:spPr>
          <a:xfrm>
            <a:off x="9075191" y="2606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12월 26일</a:t>
            </a:r>
            <a:endParaRPr lang="en-US" sz="1800" dirty="0"/>
          </a:p>
        </p:txBody>
      </p:sp>
      <p:sp>
        <p:nvSpPr>
          <p:cNvPr id="28" name="text-243"/>
          <p:cNvSpPr txBox="1"/>
          <p:nvPr/>
        </p:nvSpPr>
        <p:spPr>
          <a:xfrm>
            <a:off x="9075191" y="297180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Final Report</a:t>
            </a:r>
            <a:endParaRPr lang="en-US" sz="1400" dirty="0"/>
          </a:p>
        </p:txBody>
      </p:sp>
      <p:sp>
        <p:nvSpPr>
          <p:cNvPr id="29" name="card-244"/>
          <p:cNvSpPr/>
          <p:nvPr/>
        </p:nvSpPr>
        <p:spPr>
          <a:xfrm>
            <a:off x="9075191" y="3474720"/>
            <a:ext cx="2567864" cy="269748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-245"/>
          <p:cNvSpPr txBox="1"/>
          <p:nvPr/>
        </p:nvSpPr>
        <p:spPr>
          <a:xfrm>
            <a:off x="9258071" y="361188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Release v1.0</a:t>
            </a:r>
            <a:endParaRPr lang="en-US" sz="1300" dirty="0"/>
          </a:p>
        </p:txBody>
      </p:sp>
      <p:sp>
        <p:nvSpPr>
          <p:cNvPr id="31" name="text-246"/>
          <p:cNvSpPr txBox="1"/>
          <p:nvPr/>
        </p:nvSpPr>
        <p:spPr>
          <a:xfrm>
            <a:off x="9258071" y="3977640"/>
            <a:ext cx="22021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내 모드 · 재요약 · 가족 공유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정확도 · 접근성 점검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최종 보고서 · 시연 영상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GitHub 프로젝트 관리</a:t>
            </a:r>
            <a:endParaRPr lang="en-US" sz="3200" dirty="0"/>
          </a:p>
        </p:txBody>
      </p:sp>
      <p:sp>
        <p:nvSpPr>
          <p:cNvPr id="3" name="text-247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저장소 하나에 소스 코드와 제출 문서를 모으고, 이슈·커밋·Release로 진행 과정을 남긴다</a:t>
            </a:r>
            <a:endParaRPr lang="en-US" sz="1600" dirty="0"/>
          </a:p>
        </p:txBody>
      </p:sp>
      <p:sp>
        <p:nvSpPr>
          <p:cNvPr id="4" name="card-248"/>
          <p:cNvSpPr/>
          <p:nvPr/>
        </p:nvSpPr>
        <p:spPr>
          <a:xfrm>
            <a:off x="548640" y="169164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-249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250"/>
          <p:cNvSpPr txBox="1"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-251"/>
          <p:cNvSpPr txBox="1"/>
          <p:nvPr/>
        </p:nvSpPr>
        <p:spPr>
          <a:xfrm>
            <a:off x="1417320" y="1892808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저장소 구성</a:t>
            </a:r>
            <a:endParaRPr lang="en-US" sz="1700" dirty="0"/>
          </a:p>
        </p:txBody>
      </p:sp>
      <p:sp>
        <p:nvSpPr>
          <p:cNvPr id="8" name="text-252"/>
          <p:cNvSpPr txBox="1"/>
          <p:nvPr/>
        </p:nvSpPr>
        <p:spPr>
          <a:xfrm>
            <a:off x="822960" y="251460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app/ : Android Studio 프로젝트 (Java)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docs/ : 계획서, 개발 계획서, 진행 보고서, 최종 보고서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키·서명 키·개인정보 사진은 .gitignore로 제외</a:t>
            </a:r>
            <a:endParaRPr lang="en-US" sz="1400" dirty="0"/>
          </a:p>
        </p:txBody>
      </p:sp>
      <p:sp>
        <p:nvSpPr>
          <p:cNvPr id="9" name="card-253"/>
          <p:cNvSpPr/>
          <p:nvPr/>
        </p:nvSpPr>
        <p:spPr>
          <a:xfrm>
            <a:off x="6233008" y="169164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t-254"/>
          <p:cNvSpPr/>
          <p:nvPr/>
        </p:nvSpPr>
        <p:spPr>
          <a:xfrm>
            <a:off x="6461608" y="1892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255"/>
          <p:cNvSpPr txBox="1"/>
          <p:nvPr/>
        </p:nvSpPr>
        <p:spPr>
          <a:xfrm>
            <a:off x="64616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-256"/>
          <p:cNvSpPr txBox="1"/>
          <p:nvPr/>
        </p:nvSpPr>
        <p:spPr>
          <a:xfrm>
            <a:off x="7101688" y="1892808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이슈와 라벨</a:t>
            </a:r>
            <a:endParaRPr lang="en-US" sz="1700" dirty="0"/>
          </a:p>
        </p:txBody>
      </p:sp>
      <p:sp>
        <p:nvSpPr>
          <p:cNvPr id="13" name="text-257"/>
          <p:cNvSpPr txBox="1"/>
          <p:nvPr/>
        </p:nvSpPr>
        <p:spPr>
          <a:xfrm>
            <a:off x="6507328" y="251460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기능 단위 이슈를 마일스톤에 배정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라벨: 필수 · 추가 · 향후 · bug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미팅 피드백도 이슈로 등록해 반영 여부 확인</a:t>
            </a:r>
            <a:endParaRPr lang="en-US" sz="1400" dirty="0"/>
          </a:p>
        </p:txBody>
      </p:sp>
      <p:sp>
        <p:nvSpPr>
          <p:cNvPr id="14" name="card-258"/>
          <p:cNvSpPr/>
          <p:nvPr/>
        </p:nvSpPr>
        <p:spPr>
          <a:xfrm>
            <a:off x="548640" y="402336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ot-259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260"/>
          <p:cNvSpPr txBox="1"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-261"/>
          <p:cNvSpPr txBox="1"/>
          <p:nvPr/>
        </p:nvSpPr>
        <p:spPr>
          <a:xfrm>
            <a:off x="1417320" y="4224528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커밋</a:t>
            </a:r>
            <a:endParaRPr lang="en-US" sz="1700" dirty="0"/>
          </a:p>
        </p:txBody>
      </p:sp>
      <p:sp>
        <p:nvSpPr>
          <p:cNvPr id="18" name="text-262"/>
          <p:cNvSpPr txBox="1"/>
          <p:nvPr/>
        </p:nvSpPr>
        <p:spPr>
          <a:xfrm>
            <a:off x="822960" y="48463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1인 프로젝트로 main 브랜치 하나 운영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기능 하나가 동작하는 단위로 커밋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메시지 예: 촬영 안내 화면 추가 (#1)</a:t>
            </a:r>
            <a:endParaRPr lang="en-US" sz="1400" dirty="0"/>
          </a:p>
        </p:txBody>
      </p:sp>
      <p:sp>
        <p:nvSpPr>
          <p:cNvPr id="19" name="card-263"/>
          <p:cNvSpPr/>
          <p:nvPr/>
        </p:nvSpPr>
        <p:spPr>
          <a:xfrm>
            <a:off x="6233008" y="4023360"/>
            <a:ext cx="541004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ot-264"/>
          <p:cNvSpPr/>
          <p:nvPr/>
        </p:nvSpPr>
        <p:spPr>
          <a:xfrm>
            <a:off x="6461608" y="4224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-265"/>
          <p:cNvSpPr txBox="1"/>
          <p:nvPr/>
        </p:nvSpPr>
        <p:spPr>
          <a:xfrm>
            <a:off x="646160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-266"/>
          <p:cNvSpPr txBox="1"/>
          <p:nvPr/>
        </p:nvSpPr>
        <p:spPr>
          <a:xfrm>
            <a:off x="7101688" y="4224528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진행 보고</a:t>
            </a:r>
            <a:endParaRPr lang="en-US" sz="1700" dirty="0"/>
          </a:p>
        </p:txBody>
      </p:sp>
      <p:sp>
        <p:nvSpPr>
          <p:cNvPr id="23" name="text-267"/>
          <p:cNvSpPr txBox="1"/>
          <p:nvPr/>
        </p:nvSpPr>
        <p:spPr>
          <a:xfrm>
            <a:off x="6507328" y="48463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미팅 전 docs/progress/meeting-N.md 작성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Release v0.1 · v0.2 · v1.0에 APK 첨부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태그 비교로 미팅 사이 변경 내역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도구 활용 계획</a:t>
            </a:r>
            <a:endParaRPr lang="en-US" sz="3200" dirty="0"/>
          </a:p>
        </p:txBody>
      </p:sp>
      <p:sp>
        <p:nvSpPr>
          <p:cNvPr id="3" name="text-268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수업 방침("Claude, ChatGPT, Gemini를 적극 활용, AI 에이전트를 먼저 계획")에 따라 개발 전 과정에 AI를 쓰고 기록한다</a:t>
            </a:r>
            <a:endParaRPr lang="en-US" sz="1600" dirty="0"/>
          </a:p>
        </p:txBody>
      </p:sp>
      <p:sp>
        <p:nvSpPr>
          <p:cNvPr id="4" name="card-269"/>
          <p:cNvSpPr/>
          <p:nvPr/>
        </p:nvSpPr>
        <p:spPr>
          <a:xfrm>
            <a:off x="548640" y="1691640"/>
            <a:ext cx="541004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270"/>
          <p:cNvSpPr txBox="1"/>
          <p:nvPr/>
        </p:nvSpPr>
        <p:spPr>
          <a:xfrm>
            <a:off x="822960" y="1874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앱 기능으로 쓰는 AI</a:t>
            </a:r>
            <a:endParaRPr lang="en-US" sz="1700" dirty="0"/>
          </a:p>
        </p:txBody>
      </p:sp>
      <p:sp>
        <p:nvSpPr>
          <p:cNvPr id="6" name="text-271"/>
          <p:cNvSpPr txBox="1"/>
          <p:nvPr/>
        </p:nvSpPr>
        <p:spPr>
          <a:xfrm>
            <a:off x="822960" y="2258568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Gemini API</a:t>
            </a:r>
            <a:endParaRPr lang="en-US" sz="1300" dirty="0"/>
          </a:p>
        </p:txBody>
      </p:sp>
      <p:sp>
        <p:nvSpPr>
          <p:cNvPr id="7" name="text-272"/>
          <p:cNvSpPr txBox="1"/>
          <p:nvPr/>
        </p:nvSpPr>
        <p:spPr>
          <a:xfrm>
            <a:off x="822960" y="26517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안내문 세 줄 요약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"이해가 안 돼요" 쉬운 말 재요약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규칙 코드 대조를 통과해야 그대로 표시</a:t>
            </a:r>
            <a:endParaRPr lang="en-US" sz="1400" dirty="0"/>
          </a:p>
        </p:txBody>
      </p:sp>
      <p:sp>
        <p:nvSpPr>
          <p:cNvPr id="8" name="card-273"/>
          <p:cNvSpPr/>
          <p:nvPr/>
        </p:nvSpPr>
        <p:spPr>
          <a:xfrm>
            <a:off x="6233008" y="1691640"/>
            <a:ext cx="541004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274"/>
          <p:cNvSpPr txBox="1"/>
          <p:nvPr/>
        </p:nvSpPr>
        <p:spPr>
          <a:xfrm>
            <a:off x="6507328" y="1874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개발에 쓰는 AI</a:t>
            </a:r>
            <a:endParaRPr lang="en-US" sz="1700" dirty="0"/>
          </a:p>
        </p:txBody>
      </p:sp>
      <p:sp>
        <p:nvSpPr>
          <p:cNvPr id="10" name="text-275"/>
          <p:cNvSpPr txBox="1"/>
          <p:nvPr/>
        </p:nvSpPr>
        <p:spPr>
          <a:xfrm>
            <a:off x="6507328" y="2258568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Claude (Claude Code) · ChatGPT · Gemini</a:t>
            </a:r>
            <a:endParaRPr lang="en-US" sz="1300" dirty="0"/>
          </a:p>
        </p:txBody>
      </p:sp>
      <p:sp>
        <p:nvSpPr>
          <p:cNvPr id="11" name="text-276"/>
          <p:cNvSpPr txBox="1"/>
          <p:nvPr/>
        </p:nvSpPr>
        <p:spPr>
          <a:xfrm>
            <a:off x="6507328" y="26517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유사 서비스 조사, 문서·목업 초안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Activity·레이아웃·정규식 코드 초안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오류 원인 분석과 디버깅</a:t>
            </a:r>
            <a:endParaRPr lang="en-US" sz="1400" dirty="0"/>
          </a:p>
        </p:txBody>
      </p:sp>
      <p:sp>
        <p:nvSpPr>
          <p:cNvPr id="12" name="text-277"/>
          <p:cNvSpPr txBox="1"/>
          <p:nvPr/>
        </p:nvSpPr>
        <p:spPr>
          <a:xfrm>
            <a:off x="548640" y="4251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활용 원칙</a:t>
            </a:r>
            <a:endParaRPr lang="en-US" sz="1700" dirty="0"/>
          </a:p>
        </p:txBody>
      </p:sp>
      <p:sp>
        <p:nvSpPr>
          <p:cNvPr id="13" name="card-278"/>
          <p:cNvSpPr/>
          <p:nvPr/>
        </p:nvSpPr>
        <p:spPr>
          <a:xfrm>
            <a:off x="548640" y="4709160"/>
            <a:ext cx="260215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4" name="dot-279"/>
          <p:cNvSpPr/>
          <p:nvPr/>
        </p:nvSpPr>
        <p:spPr>
          <a:xfrm>
            <a:off x="731520" y="4892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-280"/>
          <p:cNvSpPr txBox="1"/>
          <p:nvPr/>
        </p:nvSpPr>
        <p:spPr>
          <a:xfrm>
            <a:off x="73152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-281"/>
          <p:cNvSpPr txBox="1"/>
          <p:nvPr/>
        </p:nvSpPr>
        <p:spPr>
          <a:xfrm>
            <a:off x="731520" y="539496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초안은 AI, 검증은 직접</a:t>
            </a:r>
            <a:endParaRPr lang="en-US" sz="1400" dirty="0"/>
          </a:p>
        </p:txBody>
      </p:sp>
      <p:sp>
        <p:nvSpPr>
          <p:cNvPr id="17" name="text-282"/>
          <p:cNvSpPr txBox="1"/>
          <p:nvPr/>
        </p:nvSpPr>
        <p:spPr>
          <a:xfrm>
            <a:off x="731520" y="571500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실기기 실행과 단위 테스트 후 반영</a:t>
            </a:r>
            <a:endParaRPr lang="en-US" sz="1200" dirty="0"/>
          </a:p>
        </p:txBody>
      </p:sp>
      <p:sp>
        <p:nvSpPr>
          <p:cNvPr id="18" name="card-283"/>
          <p:cNvSpPr/>
          <p:nvPr/>
        </p:nvSpPr>
        <p:spPr>
          <a:xfrm>
            <a:off x="3379394" y="4709160"/>
            <a:ext cx="260215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9" name="dot-284"/>
          <p:cNvSpPr/>
          <p:nvPr/>
        </p:nvSpPr>
        <p:spPr>
          <a:xfrm>
            <a:off x="3562274" y="4892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285"/>
          <p:cNvSpPr txBox="1"/>
          <p:nvPr/>
        </p:nvSpPr>
        <p:spPr>
          <a:xfrm>
            <a:off x="3562274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-286"/>
          <p:cNvSpPr txBox="1"/>
          <p:nvPr/>
        </p:nvSpPr>
        <p:spPr>
          <a:xfrm>
            <a:off x="3562274" y="539496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정확성은 규칙 코드로</a:t>
            </a:r>
            <a:endParaRPr lang="en-US" sz="1400" dirty="0"/>
          </a:p>
        </p:txBody>
      </p:sp>
      <p:sp>
        <p:nvSpPr>
          <p:cNvPr id="22" name="text-287"/>
          <p:cNvSpPr txBox="1"/>
          <p:nvPr/>
        </p:nvSpPr>
        <p:spPr>
          <a:xfrm>
            <a:off x="3562274" y="571500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날짜·금액은 정규식으로 대조</a:t>
            </a:r>
            <a:endParaRPr lang="en-US" sz="1200" dirty="0"/>
          </a:p>
        </p:txBody>
      </p:sp>
      <p:sp>
        <p:nvSpPr>
          <p:cNvPr id="23" name="card-288"/>
          <p:cNvSpPr/>
          <p:nvPr/>
        </p:nvSpPr>
        <p:spPr>
          <a:xfrm>
            <a:off x="6210148" y="4709160"/>
            <a:ext cx="260215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4" name="dot-289"/>
          <p:cNvSpPr/>
          <p:nvPr/>
        </p:nvSpPr>
        <p:spPr>
          <a:xfrm>
            <a:off x="6393028" y="4892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-290"/>
          <p:cNvSpPr txBox="1"/>
          <p:nvPr/>
        </p:nvSpPr>
        <p:spPr>
          <a:xfrm>
            <a:off x="6393028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-291"/>
          <p:cNvSpPr txBox="1"/>
          <p:nvPr/>
        </p:nvSpPr>
        <p:spPr>
          <a:xfrm>
            <a:off x="6393028" y="539496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개인정보·키는 넘기지 않음</a:t>
            </a:r>
            <a:endParaRPr lang="en-US" sz="1400" dirty="0"/>
          </a:p>
        </p:txBody>
      </p:sp>
      <p:sp>
        <p:nvSpPr>
          <p:cNvPr id="27" name="text-292"/>
          <p:cNvSpPr txBox="1"/>
          <p:nvPr/>
        </p:nvSpPr>
        <p:spPr>
          <a:xfrm>
            <a:off x="6393028" y="571500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실제 안내문 원본과 API 키 입력 금지</a:t>
            </a:r>
            <a:endParaRPr lang="en-US" sz="1200" dirty="0"/>
          </a:p>
        </p:txBody>
      </p:sp>
      <p:sp>
        <p:nvSpPr>
          <p:cNvPr id="28" name="card-293"/>
          <p:cNvSpPr/>
          <p:nvPr/>
        </p:nvSpPr>
        <p:spPr>
          <a:xfrm>
            <a:off x="9040901" y="4709160"/>
            <a:ext cx="260215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9" name="dot-294"/>
          <p:cNvSpPr/>
          <p:nvPr/>
        </p:nvSpPr>
        <p:spPr>
          <a:xfrm>
            <a:off x="9223781" y="4892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-295"/>
          <p:cNvSpPr txBox="1"/>
          <p:nvPr/>
        </p:nvSpPr>
        <p:spPr>
          <a:xfrm>
            <a:off x="9223781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-296"/>
          <p:cNvSpPr txBox="1"/>
          <p:nvPr/>
        </p:nvSpPr>
        <p:spPr>
          <a:xfrm>
            <a:off x="9223781" y="539496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활용 내역 기록</a:t>
            </a:r>
            <a:endParaRPr lang="en-US" sz="1400" dirty="0"/>
          </a:p>
        </p:txBody>
      </p:sp>
      <p:sp>
        <p:nvSpPr>
          <p:cNvPr id="32" name="text-297"/>
          <p:cNvSpPr txBox="1"/>
          <p:nvPr/>
        </p:nvSpPr>
        <p:spPr>
          <a:xfrm>
            <a:off x="9223781" y="571500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docs/ai-usage.md, 최종 보고서에 요약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예상 문제와 대응 방안</a:t>
            </a:r>
            <a:endParaRPr lang="en-US" sz="3200" dirty="0"/>
          </a:p>
        </p:txBody>
      </p:sp>
      <p:sp>
        <p:nvSpPr>
          <p:cNvPr id="3" name="text-298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실패할 수 있는 지점마다 앱이 멈추지 않고 사용자가 원문으로 돌아갈 수 있는 경로를 둔다</a:t>
            </a:r>
            <a:endParaRPr lang="en-US" sz="1600" dirty="0"/>
          </a:p>
        </p:txBody>
      </p:sp>
      <p:graphicFrame>
        <p:nvGraphicFramePr>
          <p:cNvPr id="18" name="table-2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393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문제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방안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날짜나 금액을 틀리게 요약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정규식 자동 대조로 불일치 시 재요약 후 경고, 원문 나란히 보기, 전화 버튼으로 기관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개인정보가 외부 AI로 전송될 위험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실행 동의 화면에서 전송 범위 안내, 기기 안에서 먼저 가린 뒤 전송, 사진 보관은 사용자가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구겨진 종이·어두운 조명으로 인식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전 안내와 가이드 틀, 인식 결과 확인 후 다시 찍기, 글자가 너무 적으면 요약으로 넘어가지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내 인식으로 끝내 읽히지 않는 안내문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다시 동의한 경우에만 사진을 AI에 보내는 대체 경로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안내문마다 양식이 달라 마감일 추출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"까지", "마감", "기한" 주변 날짜 우선, 확신이 없으면 후보 중 사용자가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대표번호와 개인 번호 구분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휴대전화 형식은 제외, "문의", "상담" 주변 번호 우선 표시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API 응답 실패나 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"원문을 확인해 주세요" 안내와 재시도 버튼, 무료 사용량 안에서 하루 요청 횟수 제한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00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기대 효과</a:t>
            </a:r>
            <a:endParaRPr lang="en-US" sz="3600" dirty="0"/>
          </a:p>
        </p:txBody>
      </p:sp>
      <p:sp>
        <p:nvSpPr>
          <p:cNvPr id="3" name="text-301"/>
          <p:cNvSpPr txBox="1"/>
          <p:nvPr/>
        </p:nvSpPr>
        <p:spPr>
          <a:xfrm>
            <a:off x="548640" y="13258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안내문을 받은 사람이 10초 안에 해야 할 일과 마감일을 알고, 버튼 하나로 달력·전화·가족 공유까지 마친다</a:t>
            </a:r>
            <a:endParaRPr lang="en-US" sz="1800" dirty="0"/>
          </a:p>
        </p:txBody>
      </p:sp>
      <p:sp>
        <p:nvSpPr>
          <p:cNvPr id="4" name="card-302"/>
          <p:cNvSpPr/>
          <p:nvPr/>
        </p:nvSpPr>
        <p:spPr>
          <a:xfrm>
            <a:off x="548640" y="237744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dot-303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304"/>
          <p:cNvSpPr txBox="1"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-305"/>
          <p:cNvSpPr txBox="1"/>
          <p:nvPr/>
        </p:nvSpPr>
        <p:spPr>
          <a:xfrm>
            <a:off x="1417320" y="260604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어르신</a:t>
            </a:r>
            <a:endParaRPr lang="en-US" sz="1600" dirty="0"/>
          </a:p>
        </p:txBody>
      </p:sp>
      <p:sp>
        <p:nvSpPr>
          <p:cNvPr id="8" name="text-306"/>
          <p:cNvSpPr txBox="1"/>
          <p:nvPr/>
        </p:nvSpPr>
        <p:spPr>
          <a:xfrm>
            <a:off x="822960" y="3246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긴 문서 대신 세 줄과 체크박스, 음성 안내로 파악하고 질문을 입력하지 않아도 된다</a:t>
            </a:r>
            <a:endParaRPr lang="en-US" sz="1400" dirty="0"/>
          </a:p>
        </p:txBody>
      </p:sp>
      <p:sp>
        <p:nvSpPr>
          <p:cNvPr id="9" name="card-307"/>
          <p:cNvSpPr/>
          <p:nvPr/>
        </p:nvSpPr>
        <p:spPr>
          <a:xfrm>
            <a:off x="4338218" y="237744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dot-308"/>
          <p:cNvSpPr/>
          <p:nvPr/>
        </p:nvSpPr>
        <p:spPr>
          <a:xfrm>
            <a:off x="4566818" y="2606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309"/>
          <p:cNvSpPr txBox="1"/>
          <p:nvPr/>
        </p:nvSpPr>
        <p:spPr>
          <a:xfrm>
            <a:off x="456681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-310"/>
          <p:cNvSpPr txBox="1"/>
          <p:nvPr/>
        </p:nvSpPr>
        <p:spPr>
          <a:xfrm>
            <a:off x="5206898" y="260604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발달장애인 · 외국인 주민</a:t>
            </a:r>
            <a:endParaRPr lang="en-US" sz="1600" dirty="0"/>
          </a:p>
        </p:txBody>
      </p:sp>
      <p:sp>
        <p:nvSpPr>
          <p:cNvPr id="13" name="text-311"/>
          <p:cNvSpPr txBox="1"/>
          <p:nvPr/>
        </p:nvSpPr>
        <p:spPr>
          <a:xfrm>
            <a:off x="4612538" y="3246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쉬운 말 모드로 같은 요약을 받고, 이후 외국어 모드로 넓힌다</a:t>
            </a:r>
            <a:endParaRPr lang="en-US" sz="1400" dirty="0"/>
          </a:p>
        </p:txBody>
      </p:sp>
      <p:sp>
        <p:nvSpPr>
          <p:cNvPr id="14" name="card-312"/>
          <p:cNvSpPr/>
          <p:nvPr/>
        </p:nvSpPr>
        <p:spPr>
          <a:xfrm>
            <a:off x="8127797" y="237744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dot-313"/>
          <p:cNvSpPr/>
          <p:nvPr/>
        </p:nvSpPr>
        <p:spPr>
          <a:xfrm>
            <a:off x="8356397" y="2606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314"/>
          <p:cNvSpPr txBox="1"/>
          <p:nvPr/>
        </p:nvSpPr>
        <p:spPr>
          <a:xfrm>
            <a:off x="8356397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-315"/>
          <p:cNvSpPr txBox="1"/>
          <p:nvPr/>
        </p:nvSpPr>
        <p:spPr>
          <a:xfrm>
            <a:off x="8996477" y="260604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가족</a:t>
            </a:r>
            <a:endParaRPr lang="en-US" sz="1600" dirty="0"/>
          </a:p>
        </p:txBody>
      </p:sp>
      <p:sp>
        <p:nvSpPr>
          <p:cNvPr id="18" name="text-316"/>
          <p:cNvSpPr txBox="1"/>
          <p:nvPr/>
        </p:nvSpPr>
        <p:spPr>
          <a:xfrm>
            <a:off x="8402117" y="3246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멀리 사는 자녀도 부모님 안내문의 마감일을 함께 챙긴다</a:t>
            </a:r>
            <a:endParaRPr lang="en-US" sz="1400" dirty="0"/>
          </a:p>
        </p:txBody>
      </p:sp>
      <p:sp>
        <p:nvSpPr>
          <p:cNvPr id="19" name="text-317"/>
          <p:cNvSpPr txBox="1"/>
          <p:nvPr/>
        </p:nvSpPr>
        <p:spPr>
          <a:xfrm>
            <a:off x="548640" y="47548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확장 방향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공공기관이 안내문을 보낼 때 검수한 세 줄 요약 JSON을 함께 제공하면, 앱은 AI 요약 대신 기관이 확인한 요약을 그대로 보여 줄 수 있다. 담당자 승인, 원문 수정 시 요약 잠금은 전자문서 시스템 연동 단계에서 구현한다.</a:t>
            </a:r>
            <a:endParaRPr lang="en-US" sz="1500" dirty="0"/>
          </a:p>
        </p:txBody>
      </p:sp>
      <p:sp>
        <p:nvSpPr>
          <p:cNvPr id="20" name="text-318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github.com/KMS3735/three-lines-first</a:t>
            </a:r>
            <a:endParaRPr lang="en-US" sz="14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19202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548640" y="32004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ree Lines First">
  <a:themeElements>
    <a:clrScheme name="Three Lines First">
      <a:dk1>
        <a:srgbClr val="1B2B34"/>
      </a:dk1>
      <a:lt1>
        <a:srgbClr val="FFFFFF"/>
      </a:lt1>
      <a:dk2>
        <a:srgbClr val="0F4C5C"/>
      </a:dk2>
      <a:lt2>
        <a:srgbClr val="EEF4F3"/>
      </a:lt2>
      <a:accent1>
        <a:srgbClr val="0F4C5C"/>
      </a:accent1>
      <a:accent2>
        <a:srgbClr val="E9A23B"/>
      </a:accent2>
      <a:accent3>
        <a:srgbClr val="2F7BD8"/>
      </a:accent3>
      <a:accent4>
        <a:srgbClr val="3C9D5D"/>
      </a:accent4>
      <a:accent5>
        <a:srgbClr val="5F6B73"/>
      </a:accent5>
      <a:accent6>
        <a:srgbClr val="D9E6E4"/>
      </a:accent6>
      <a:hlink>
        <a:srgbClr val="2F7BD8"/>
      </a:hlink>
      <a:folHlink>
        <a:srgbClr val="5F6B73"/>
      </a:folHlink>
    </a:clrScheme>
    <a:fontScheme name="Three Lines Firs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 줄 먼저 – AI 공공 안내문 요약 앱 개발 계획서</dc:title>
  <dc:subject>PptxGenJS Presentation</dc:subject>
  <dc:creator>김민상</dc:creator>
  <cp:lastModifiedBy>김민상</cp:lastModifiedBy>
  <cp:revision>1</cp:revision>
  <dcterms:created xsi:type="dcterms:W3CDTF">2026-10-22T10:00:23Z</dcterms:created>
  <dcterms:modified xsi:type="dcterms:W3CDTF">2026-10-22T10:00:23Z</dcterms:modified>
</cp:coreProperties>
</file>